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60" r:id="rId4"/>
    <p:sldId id="258" r:id="rId5"/>
    <p:sldId id="261" r:id="rId6"/>
    <p:sldId id="269" r:id="rId7"/>
    <p:sldId id="264" r:id="rId8"/>
    <p:sldId id="271" r:id="rId9"/>
    <p:sldId id="272" r:id="rId10"/>
    <p:sldId id="273" r:id="rId11"/>
    <p:sldId id="265" r:id="rId12"/>
    <p:sldId id="266"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28A89"/>
    <a:srgbClr val="44BFB1"/>
    <a:srgbClr val="00A896"/>
    <a:srgbClr val="042A2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5" d="100"/>
          <a:sy n="75" d="100"/>
        </p:scale>
        <p:origin x="946" y="50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2B2C"/>
                </a:solidFill>
                <a:latin typeface="Arial"/>
              </a:defRPr>
            </a:pPr>
            <a:r>
              <a:rPr lang="en-IN" sz="1300" b="0" i="0" u="none" strike="noStrike">
                <a:solidFill>
                  <a:srgbClr val="1B2B2C"/>
                </a:solidFill>
                <a:latin typeface="Arial"/>
              </a:rPr>
              <a:t>Biosimilars Segment Revenue, FY22–FY26</a:t>
            </a:r>
          </a:p>
        </c:rich>
      </c:tx>
      <c:overlay val="0"/>
    </c:title>
    <c:autoTitleDeleted val="0"/>
    <c:plotArea>
      <c:layout/>
      <c:barChart>
        <c:barDir val="col"/>
        <c:grouping val="clustered"/>
        <c:varyColors val="0"/>
        <c:ser>
          <c:idx val="0"/>
          <c:order val="0"/>
          <c:tx>
            <c:strRef>
              <c:f>Sheet1!$B$1</c:f>
              <c:strCache>
                <c:ptCount val="1"/>
                <c:pt idx="0">
                  <c:v>Biosimilars Revenue (₹ Crore)</c:v>
                </c:pt>
              </c:strCache>
            </c:strRef>
          </c:tx>
          <c:spPr>
            <a:solidFill>
              <a:srgbClr val="028090"/>
            </a:solidFill>
            <a:effectLst/>
          </c:spPr>
          <c:invertIfNegative val="0"/>
          <c:dLbls>
            <c:numFmt formatCode="#,##0" sourceLinked="0"/>
            <c:spPr>
              <a:noFill/>
              <a:ln>
                <a:noFill/>
              </a:ln>
              <a:effectLst/>
            </c:spPr>
            <c:txPr>
              <a:bodyPr/>
              <a:lstStyle/>
              <a:p>
                <a:pPr>
                  <a:defRPr sz="1000" b="0" i="0" u="none" strike="noStrike">
                    <a:solidFill>
                      <a:srgbClr val="1B2B2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Sheet1!$B$2:$B$6</c:f>
              <c:numCache>
                <c:formatCode>General</c:formatCode>
                <c:ptCount val="5"/>
                <c:pt idx="0">
                  <c:v>3464</c:v>
                </c:pt>
                <c:pt idx="1">
                  <c:v>6355</c:v>
                </c:pt>
                <c:pt idx="2">
                  <c:v>7897</c:v>
                </c:pt>
                <c:pt idx="3">
                  <c:v>8990</c:v>
                </c:pt>
                <c:pt idx="4">
                  <c:v>10431</c:v>
                </c:pt>
              </c:numCache>
            </c:numRef>
          </c:val>
          <c:extLst>
            <c:ext xmlns:c16="http://schemas.microsoft.com/office/drawing/2014/chart" uri="{C3380CC4-5D6E-409C-BE32-E72D297353CC}">
              <c16:uniqueId val="{00000000-8312-4406-8971-043225A8DE88}"/>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7373"/>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5EE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7373"/>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12744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www.biocon.com/businesses/novel-biologics/nimotuzumab/"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hyperlink" Target="https://www.biocon.com/businesses/novel-biologics/itolizumab/"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www.biocon.com/docs/Biocon_Integrated_Annual_Report_2026.pdf"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hyperlink" Target="https://www.biocon.com/products/"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42A2B"/>
        </a:solidFill>
        <a:effectLst/>
      </p:bgPr>
    </p:bg>
    <p:spTree>
      <p:nvGrpSpPr>
        <p:cNvPr id="1" name=""/>
        <p:cNvGrpSpPr/>
        <p:nvPr/>
      </p:nvGrpSpPr>
      <p:grpSpPr>
        <a:xfrm>
          <a:off x="0" y="0"/>
          <a:ext cx="0" cy="0"/>
          <a:chOff x="0" y="0"/>
          <a:chExt cx="0" cy="0"/>
        </a:xfrm>
      </p:grpSpPr>
      <p:sp>
        <p:nvSpPr>
          <p:cNvPr id="2" name="Shape 0"/>
          <p:cNvSpPr/>
          <p:nvPr/>
        </p:nvSpPr>
        <p:spPr>
          <a:xfrm>
            <a:off x="9509760" y="-182880"/>
            <a:ext cx="1645920" cy="1645920"/>
          </a:xfrm>
          <a:prstGeom prst="ellipse">
            <a:avLst/>
          </a:prstGeom>
          <a:solidFill>
            <a:srgbClr val="00A896">
              <a:alpha val="22000"/>
            </a:srgbClr>
          </a:solidFill>
          <a:ln w="12700">
            <a:solidFill>
              <a:srgbClr val="02C39A">
                <a:alpha val="40000"/>
              </a:srgbClr>
            </a:solidFill>
            <a:prstDash val="solid"/>
          </a:ln>
        </p:spPr>
      </p:sp>
      <p:sp>
        <p:nvSpPr>
          <p:cNvPr id="3" name="Shape 1"/>
          <p:cNvSpPr/>
          <p:nvPr/>
        </p:nvSpPr>
        <p:spPr>
          <a:xfrm>
            <a:off x="10789920" y="914400"/>
            <a:ext cx="914400" cy="914400"/>
          </a:xfrm>
          <a:prstGeom prst="ellipse">
            <a:avLst/>
          </a:prstGeom>
          <a:solidFill>
            <a:srgbClr val="00A896">
              <a:alpha val="22000"/>
            </a:srgbClr>
          </a:solidFill>
          <a:ln w="12700">
            <a:solidFill>
              <a:srgbClr val="02C39A">
                <a:alpha val="40000"/>
              </a:srgbClr>
            </a:solidFill>
            <a:prstDash val="solid"/>
          </a:ln>
        </p:spPr>
      </p:sp>
      <p:sp>
        <p:nvSpPr>
          <p:cNvPr id="4" name="Shape 2"/>
          <p:cNvSpPr/>
          <p:nvPr/>
        </p:nvSpPr>
        <p:spPr>
          <a:xfrm>
            <a:off x="9326880" y="1097280"/>
            <a:ext cx="731520" cy="731520"/>
          </a:xfrm>
          <a:prstGeom prst="ellipse">
            <a:avLst/>
          </a:prstGeom>
          <a:solidFill>
            <a:srgbClr val="00A896">
              <a:alpha val="22000"/>
            </a:srgbClr>
          </a:solidFill>
          <a:ln w="12700">
            <a:solidFill>
              <a:srgbClr val="02C39A">
                <a:alpha val="40000"/>
              </a:srgbClr>
            </a:solidFill>
            <a:prstDash val="solid"/>
          </a:ln>
        </p:spPr>
      </p:sp>
      <p:sp>
        <p:nvSpPr>
          <p:cNvPr id="5" name="Shape 3"/>
          <p:cNvSpPr/>
          <p:nvPr/>
        </p:nvSpPr>
        <p:spPr>
          <a:xfrm>
            <a:off x="10607040" y="1920240"/>
            <a:ext cx="548640" cy="548640"/>
          </a:xfrm>
          <a:prstGeom prst="ellipse">
            <a:avLst/>
          </a:prstGeom>
          <a:solidFill>
            <a:srgbClr val="00A896">
              <a:alpha val="22000"/>
            </a:srgbClr>
          </a:solidFill>
          <a:ln w="12700">
            <a:solidFill>
              <a:srgbClr val="02C39A">
                <a:alpha val="40000"/>
              </a:srgbClr>
            </a:solidFill>
            <a:prstDash val="solid"/>
          </a:ln>
        </p:spPr>
      </p:sp>
      <p:sp>
        <p:nvSpPr>
          <p:cNvPr id="6" name="Text 4"/>
          <p:cNvSpPr/>
          <p:nvPr/>
        </p:nvSpPr>
        <p:spPr>
          <a:xfrm>
            <a:off x="548640" y="2331720"/>
            <a:ext cx="9144000" cy="548640"/>
          </a:xfrm>
          <a:prstGeom prst="rect">
            <a:avLst/>
          </a:prstGeom>
          <a:noFill/>
          <a:ln/>
        </p:spPr>
        <p:txBody>
          <a:bodyPr wrap="square" lIns="0" tIns="0" rIns="0" bIns="0" rtlCol="0" anchor="ctr"/>
          <a:lstStyle/>
          <a:p>
            <a:pPr marL="0" indent="0">
              <a:buNone/>
            </a:pPr>
            <a:r>
              <a:rPr lang="en-US" sz="1600" b="1" kern="0" spc="400" dirty="0">
                <a:solidFill>
                  <a:srgbClr val="02C39A"/>
                </a:solidFill>
                <a:latin typeface="Calibri" pitchFamily="34" charset="0"/>
                <a:ea typeface="Calibri" pitchFamily="34" charset="-122"/>
                <a:cs typeface="Calibri" pitchFamily="34" charset="-120"/>
              </a:rPr>
              <a:t>BIOCON</a:t>
            </a:r>
            <a:endParaRPr lang="en-US" sz="1600" dirty="0"/>
          </a:p>
        </p:txBody>
      </p:sp>
      <p:sp>
        <p:nvSpPr>
          <p:cNvPr id="7" name="Text 5"/>
          <p:cNvSpPr/>
          <p:nvPr/>
        </p:nvSpPr>
        <p:spPr>
          <a:xfrm>
            <a:off x="548640" y="2788920"/>
            <a:ext cx="10515600" cy="1737360"/>
          </a:xfrm>
          <a:prstGeom prst="rect">
            <a:avLst/>
          </a:prstGeom>
          <a:noFill/>
          <a:ln/>
        </p:spPr>
        <p:txBody>
          <a:bodyPr wrap="square" lIns="0" tIns="0" rIns="0" bIns="0" rtlCol="0" anchor="ctr"/>
          <a:lstStyle/>
          <a:p>
            <a:pPr>
              <a:lnSpc>
                <a:spcPct val="105000"/>
              </a:lnSpc>
            </a:pPr>
            <a:r>
              <a:rPr lang="en-US" sz="4400" b="1" dirty="0">
                <a:solidFill>
                  <a:srgbClr val="FFFFFF"/>
                </a:solidFill>
                <a:latin typeface="Cambria" pitchFamily="34" charset="0"/>
                <a:ea typeface="Cambria" pitchFamily="34" charset="-122"/>
                <a:cs typeface="Cambria" pitchFamily="34" charset="-120"/>
              </a:rPr>
              <a:t>Balancing Innovation, Access &amp; Sustainability</a:t>
            </a:r>
            <a:endParaRPr lang="en-US" sz="4400" dirty="0"/>
          </a:p>
        </p:txBody>
      </p:sp>
      <p:sp>
        <p:nvSpPr>
          <p:cNvPr id="8" name="Text 6"/>
          <p:cNvSpPr/>
          <p:nvPr/>
        </p:nvSpPr>
        <p:spPr>
          <a:xfrm>
            <a:off x="548640" y="4617720"/>
            <a:ext cx="8595360" cy="731520"/>
          </a:xfrm>
          <a:prstGeom prst="rect">
            <a:avLst/>
          </a:prstGeom>
          <a:noFill/>
          <a:ln/>
        </p:spPr>
        <p:txBody>
          <a:bodyPr wrap="square" lIns="0" tIns="0" rIns="0" bIns="0" rtlCol="0" anchor="ctr"/>
          <a:lstStyle/>
          <a:p>
            <a:r>
              <a:rPr lang="en-US" sz="1500" dirty="0">
                <a:solidFill>
                  <a:srgbClr val="628A89"/>
                </a:solidFill>
              </a:rPr>
              <a:t>An analysis on the products, challenges and market impact of an Indian biopharmaceutical company with a market reach of 120+ countries</a:t>
            </a:r>
          </a:p>
        </p:txBody>
      </p:sp>
      <p:sp>
        <p:nvSpPr>
          <p:cNvPr id="9" name="Shape 7"/>
          <p:cNvSpPr/>
          <p:nvPr/>
        </p:nvSpPr>
        <p:spPr>
          <a:xfrm>
            <a:off x="548640" y="5623560"/>
            <a:ext cx="1005840" cy="0"/>
          </a:xfrm>
          <a:prstGeom prst="line">
            <a:avLst/>
          </a:prstGeom>
          <a:noFill/>
          <a:ln w="38100">
            <a:solidFill>
              <a:srgbClr val="02C39A"/>
            </a:solidFill>
            <a:prstDash val="solid"/>
          </a:ln>
        </p:spPr>
      </p:sp>
      <p:sp>
        <p:nvSpPr>
          <p:cNvPr id="10" name="Text 8"/>
          <p:cNvSpPr/>
          <p:nvPr/>
        </p:nvSpPr>
        <p:spPr>
          <a:xfrm>
            <a:off x="548640" y="5806440"/>
            <a:ext cx="8229600" cy="365760"/>
          </a:xfrm>
          <a:prstGeom prst="rect">
            <a:avLst/>
          </a:prstGeom>
          <a:noFill/>
          <a:ln/>
        </p:spPr>
        <p:txBody>
          <a:bodyPr wrap="square" lIns="0" tIns="0" rIns="0" bIns="0" rtlCol="0" anchor="ctr"/>
          <a:lstStyle/>
          <a:p>
            <a:pPr marL="0" indent="0">
              <a:buNone/>
            </a:pPr>
            <a:r>
              <a:rPr lang="en-US" sz="1250" i="1" dirty="0">
                <a:solidFill>
                  <a:srgbClr val="9FC9C6"/>
                </a:solidFill>
                <a:latin typeface="Calibri" pitchFamily="34" charset="0"/>
                <a:ea typeface="Calibri" pitchFamily="34" charset="-122"/>
                <a:cs typeface="Calibri" pitchFamily="34" charset="-120"/>
              </a:rPr>
              <a:t>A Presentation on Biotechnology Innovation, Applications, Challenges &amp; Market Impact</a:t>
            </a:r>
            <a:endParaRPr lang="en-US" sz="1250" dirty="0"/>
          </a:p>
        </p:txBody>
      </p:sp>
      <p:sp>
        <p:nvSpPr>
          <p:cNvPr id="11" name="Text 9"/>
          <p:cNvSpPr/>
          <p:nvPr/>
        </p:nvSpPr>
        <p:spPr>
          <a:xfrm>
            <a:off x="11475720" y="6473952"/>
            <a:ext cx="548640" cy="274320"/>
          </a:xfrm>
          <a:prstGeom prst="rect">
            <a:avLst/>
          </a:prstGeom>
          <a:noFill/>
          <a:ln/>
        </p:spPr>
        <p:txBody>
          <a:bodyPr wrap="square" lIns="0" tIns="0" rIns="0" bIns="0" rtlCol="0" anchor="ctr"/>
          <a:lstStyle/>
          <a:p>
            <a:pPr marL="0" indent="0" algn="r">
              <a:buNone/>
            </a:pPr>
            <a:r>
              <a:rPr lang="en-US" sz="1000" dirty="0">
                <a:solidFill>
                  <a:srgbClr val="9FC9C6"/>
                </a:solidFill>
                <a:latin typeface="Calibri" pitchFamily="34" charset="0"/>
                <a:ea typeface="Calibri" pitchFamily="34" charset="-122"/>
                <a:cs typeface="Calibri" pitchFamily="34" charset="-120"/>
              </a:rPr>
              <a:t>01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marL="0" indent="0">
              <a:buNone/>
            </a:pPr>
            <a:r>
              <a:rPr lang="en-US" sz="1200" b="1" kern="0" spc="200" dirty="0">
                <a:solidFill>
                  <a:srgbClr val="028090"/>
                </a:solidFill>
                <a:latin typeface="Calibri" pitchFamily="34" charset="0"/>
                <a:ea typeface="Calibri" pitchFamily="34" charset="-122"/>
                <a:cs typeface="Calibri" pitchFamily="34" charset="-120"/>
              </a:rPr>
              <a:t>COMPANY OVERVIEW</a:t>
            </a:r>
            <a:endParaRPr lang="en-US" sz="1200" dirty="0"/>
          </a:p>
        </p:txBody>
      </p:sp>
      <p:sp>
        <p:nvSpPr>
          <p:cNvPr id="3" name="Text 1"/>
          <p:cNvSpPr/>
          <p:nvPr/>
        </p:nvSpPr>
        <p:spPr>
          <a:xfrm>
            <a:off x="548640" y="777240"/>
            <a:ext cx="10515600" cy="822960"/>
          </a:xfrm>
          <a:prstGeom prst="rect">
            <a:avLst/>
          </a:prstGeom>
          <a:noFill/>
          <a:ln/>
        </p:spPr>
        <p:txBody>
          <a:bodyPr wrap="square" lIns="0" tIns="0" rIns="0" bIns="0" rtlCol="0" anchor="ctr"/>
          <a:lstStyle/>
          <a:p>
            <a:pPr marL="0" indent="0">
              <a:buNone/>
            </a:pPr>
            <a:r>
              <a:rPr lang="en-US" sz="3200" b="1" dirty="0">
                <a:solidFill>
                  <a:srgbClr val="1B2B2C"/>
                </a:solidFill>
                <a:latin typeface="Cambria" pitchFamily="34" charset="0"/>
                <a:ea typeface="Cambria" pitchFamily="34" charset="-122"/>
                <a:cs typeface="Cambria" pitchFamily="34" charset="-120"/>
              </a:rPr>
              <a:t>A Research-Led Biopharma, Aiming for Global Reach </a:t>
            </a:r>
            <a:endParaRPr lang="en-US" sz="3200" dirty="0"/>
          </a:p>
        </p:txBody>
      </p:sp>
      <p:sp>
        <p:nvSpPr>
          <p:cNvPr id="4" name="Text 2"/>
          <p:cNvSpPr/>
          <p:nvPr/>
        </p:nvSpPr>
        <p:spPr>
          <a:xfrm>
            <a:off x="548640" y="1600200"/>
            <a:ext cx="6035040" cy="1737360"/>
          </a:xfrm>
          <a:prstGeom prst="rect">
            <a:avLst/>
          </a:prstGeom>
          <a:noFill/>
          <a:ln/>
        </p:spPr>
        <p:txBody>
          <a:bodyPr wrap="square" lIns="0" tIns="0" rIns="0" bIns="0" rtlCol="0" anchor="ctr"/>
          <a:lstStyle/>
          <a:p>
            <a:r>
              <a:rPr lang="en-US" sz="1200" dirty="0">
                <a:solidFill>
                  <a:srgbClr val="1B2B2C"/>
                </a:solidFill>
                <a:latin typeface="Calibri" pitchFamily="34" charset="0"/>
                <a:ea typeface="Calibri" pitchFamily="34" charset="-122"/>
                <a:cs typeface="Calibri" pitchFamily="34" charset="-120"/>
              </a:rPr>
              <a:t>Founded in 1978 by Kiran Mazumdar-Shaw, in Bengaluru, Biocon grew from an industrial enzymes company into a fully integrated biopharmaceutical group spanning novel biologics, biosimilars, generic APIs/formulations and contract research (via Syngene). Its vision is t</a:t>
            </a:r>
            <a:r>
              <a:rPr lang="en-IN" sz="1200" dirty="0"/>
              <a:t>o “enhance global healthcare through innovative and affordable biopharmaceuticals for patients, partners and healthcare systems across the globe."</a:t>
            </a:r>
            <a:endParaRPr lang="en-US" sz="1200" dirty="0"/>
          </a:p>
        </p:txBody>
      </p:sp>
      <p:sp>
        <p:nvSpPr>
          <p:cNvPr id="5" name="Shape 3"/>
          <p:cNvSpPr/>
          <p:nvPr/>
        </p:nvSpPr>
        <p:spPr>
          <a:xfrm>
            <a:off x="548640" y="3611880"/>
            <a:ext cx="1920240" cy="1417320"/>
          </a:xfrm>
          <a:prstGeom prst="roundRect">
            <a:avLst>
              <a:gd name="adj" fmla="val 5161"/>
            </a:avLst>
          </a:prstGeom>
          <a:solidFill>
            <a:srgbClr val="F4FAF9"/>
          </a:solidFill>
          <a:ln w="12700">
            <a:solidFill>
              <a:srgbClr val="DCEDEA"/>
            </a:solidFill>
            <a:prstDash val="solid"/>
          </a:ln>
        </p:spPr>
        <p:txBody>
          <a:bodyPr/>
          <a:lstStyle/>
          <a:p>
            <a:endParaRPr lang="en-IN" dirty="0"/>
          </a:p>
        </p:txBody>
      </p:sp>
      <p:sp>
        <p:nvSpPr>
          <p:cNvPr id="6" name="Text 4"/>
          <p:cNvSpPr/>
          <p:nvPr/>
        </p:nvSpPr>
        <p:spPr>
          <a:xfrm>
            <a:off x="713232" y="3749040"/>
            <a:ext cx="1591056" cy="640080"/>
          </a:xfrm>
          <a:prstGeom prst="rect">
            <a:avLst/>
          </a:prstGeom>
          <a:noFill/>
          <a:ln/>
        </p:spPr>
        <p:txBody>
          <a:bodyPr wrap="square" lIns="0" tIns="0" rIns="0" bIns="0" rtlCol="0" anchor="ctr"/>
          <a:lstStyle/>
          <a:p>
            <a:pPr marL="0" indent="0">
              <a:buNone/>
            </a:pPr>
            <a:r>
              <a:rPr lang="en-US" sz="3000" b="1" dirty="0">
                <a:solidFill>
                  <a:srgbClr val="028090"/>
                </a:solidFill>
                <a:latin typeface="Cambria" pitchFamily="34" charset="0"/>
                <a:ea typeface="Cambria" pitchFamily="34" charset="-122"/>
              </a:rPr>
              <a:t>1500+</a:t>
            </a:r>
            <a:endParaRPr lang="en-US" sz="3000" dirty="0"/>
          </a:p>
        </p:txBody>
      </p:sp>
      <p:sp>
        <p:nvSpPr>
          <p:cNvPr id="7" name="Text 5"/>
          <p:cNvSpPr/>
          <p:nvPr/>
        </p:nvSpPr>
        <p:spPr>
          <a:xfrm>
            <a:off x="713232" y="4416552"/>
            <a:ext cx="1591056" cy="548640"/>
          </a:xfrm>
          <a:prstGeom prst="rect">
            <a:avLst/>
          </a:prstGeom>
          <a:noFill/>
          <a:ln/>
        </p:spPr>
        <p:txBody>
          <a:bodyPr wrap="square" lIns="0" tIns="0" rIns="0" bIns="0" rtlCol="0" anchor="ctr"/>
          <a:lstStyle/>
          <a:p>
            <a:r>
              <a:rPr lang="en-US" sz="1100" dirty="0">
                <a:solidFill>
                  <a:srgbClr val="5C7373"/>
                </a:solidFill>
                <a:latin typeface="Calibri" pitchFamily="34" charset="0"/>
                <a:ea typeface="Calibri" pitchFamily="34" charset="-122"/>
                <a:cs typeface="Calibri" pitchFamily="34" charset="-120"/>
              </a:rPr>
              <a:t>Patents approved</a:t>
            </a:r>
          </a:p>
        </p:txBody>
      </p:sp>
      <p:sp>
        <p:nvSpPr>
          <p:cNvPr id="8" name="Shape 6"/>
          <p:cNvSpPr/>
          <p:nvPr/>
        </p:nvSpPr>
        <p:spPr>
          <a:xfrm>
            <a:off x="2651760" y="3611880"/>
            <a:ext cx="1920240" cy="1417320"/>
          </a:xfrm>
          <a:prstGeom prst="roundRect">
            <a:avLst>
              <a:gd name="adj" fmla="val 5161"/>
            </a:avLst>
          </a:prstGeom>
          <a:solidFill>
            <a:srgbClr val="F4FAF9"/>
          </a:solidFill>
          <a:ln w="12700">
            <a:solidFill>
              <a:srgbClr val="DCEDEA"/>
            </a:solidFill>
            <a:prstDash val="solid"/>
          </a:ln>
        </p:spPr>
      </p:sp>
      <p:sp>
        <p:nvSpPr>
          <p:cNvPr id="9" name="Text 7"/>
          <p:cNvSpPr/>
          <p:nvPr/>
        </p:nvSpPr>
        <p:spPr>
          <a:xfrm>
            <a:off x="2816352" y="3749040"/>
            <a:ext cx="1591056" cy="640080"/>
          </a:xfrm>
          <a:prstGeom prst="rect">
            <a:avLst/>
          </a:prstGeom>
          <a:noFill/>
          <a:ln/>
        </p:spPr>
        <p:txBody>
          <a:bodyPr wrap="square" lIns="0" tIns="0" rIns="0" bIns="0" rtlCol="0" anchor="ctr"/>
          <a:lstStyle/>
          <a:p>
            <a:pPr marL="0" indent="0">
              <a:buNone/>
            </a:pPr>
            <a:r>
              <a:rPr lang="en-US" sz="3000" b="1" dirty="0">
                <a:solidFill>
                  <a:srgbClr val="028090"/>
                </a:solidFill>
                <a:latin typeface="Cambria" pitchFamily="34" charset="0"/>
                <a:ea typeface="Cambria" pitchFamily="34" charset="-122"/>
                <a:cs typeface="Cambria" pitchFamily="34" charset="-120"/>
              </a:rPr>
              <a:t>120+</a:t>
            </a:r>
            <a:endParaRPr lang="en-US" sz="3000" dirty="0"/>
          </a:p>
        </p:txBody>
      </p:sp>
      <p:sp>
        <p:nvSpPr>
          <p:cNvPr id="10" name="Text 8"/>
          <p:cNvSpPr/>
          <p:nvPr/>
        </p:nvSpPr>
        <p:spPr>
          <a:xfrm>
            <a:off x="2816352" y="4416552"/>
            <a:ext cx="1591056" cy="548640"/>
          </a:xfrm>
          <a:prstGeom prst="rect">
            <a:avLst/>
          </a:prstGeom>
          <a:noFill/>
          <a:ln/>
        </p:spPr>
        <p:txBody>
          <a:bodyPr wrap="square" lIns="0" tIns="0" rIns="0" bIns="0" rtlCol="0" anchor="ctr"/>
          <a:lstStyle/>
          <a:p>
            <a:pPr marL="0" indent="0">
              <a:buNone/>
            </a:pPr>
            <a:r>
              <a:rPr lang="en-US" sz="1100" dirty="0">
                <a:solidFill>
                  <a:srgbClr val="5C7373"/>
                </a:solidFill>
                <a:latin typeface="Calibri" pitchFamily="34" charset="0"/>
                <a:ea typeface="Calibri" pitchFamily="34" charset="-122"/>
                <a:cs typeface="Calibri" pitchFamily="34" charset="-120"/>
              </a:rPr>
              <a:t>Countries worldwide   </a:t>
            </a:r>
            <a:endParaRPr lang="en-US" sz="1100" dirty="0"/>
          </a:p>
        </p:txBody>
      </p:sp>
      <p:sp>
        <p:nvSpPr>
          <p:cNvPr id="11" name="Shape 9"/>
          <p:cNvSpPr/>
          <p:nvPr/>
        </p:nvSpPr>
        <p:spPr>
          <a:xfrm>
            <a:off x="4754880" y="3611880"/>
            <a:ext cx="1920240" cy="1417320"/>
          </a:xfrm>
          <a:prstGeom prst="roundRect">
            <a:avLst>
              <a:gd name="adj" fmla="val 5161"/>
            </a:avLst>
          </a:prstGeom>
          <a:solidFill>
            <a:srgbClr val="F4FAF9"/>
          </a:solidFill>
          <a:ln w="12700">
            <a:solidFill>
              <a:srgbClr val="DCEDEA"/>
            </a:solidFill>
            <a:prstDash val="solid"/>
          </a:ln>
        </p:spPr>
      </p:sp>
      <p:sp>
        <p:nvSpPr>
          <p:cNvPr id="12" name="Text 10"/>
          <p:cNvSpPr/>
          <p:nvPr/>
        </p:nvSpPr>
        <p:spPr>
          <a:xfrm>
            <a:off x="4919472" y="3749040"/>
            <a:ext cx="1591056" cy="640080"/>
          </a:xfrm>
          <a:prstGeom prst="rect">
            <a:avLst/>
          </a:prstGeom>
          <a:noFill/>
          <a:ln/>
        </p:spPr>
        <p:txBody>
          <a:bodyPr wrap="square" lIns="0" tIns="0" rIns="0" bIns="0" rtlCol="0" anchor="ctr"/>
          <a:lstStyle/>
          <a:p>
            <a:pPr marL="0" indent="0">
              <a:buNone/>
            </a:pPr>
            <a:r>
              <a:rPr lang="en-US" sz="3000" b="1" dirty="0">
                <a:solidFill>
                  <a:srgbClr val="028090"/>
                </a:solidFill>
                <a:latin typeface="Cambria" pitchFamily="34" charset="0"/>
                <a:ea typeface="Cambria" pitchFamily="34" charset="-122"/>
                <a:cs typeface="Cambria" pitchFamily="34" charset="-120"/>
              </a:rPr>
              <a:t>$1,806M</a:t>
            </a:r>
            <a:endParaRPr lang="en-US" sz="3000" dirty="0"/>
          </a:p>
        </p:txBody>
      </p:sp>
      <p:sp>
        <p:nvSpPr>
          <p:cNvPr id="13" name="Text 11"/>
          <p:cNvSpPr/>
          <p:nvPr/>
        </p:nvSpPr>
        <p:spPr>
          <a:xfrm>
            <a:off x="4919472" y="4416552"/>
            <a:ext cx="1591056" cy="548640"/>
          </a:xfrm>
          <a:prstGeom prst="rect">
            <a:avLst/>
          </a:prstGeom>
          <a:noFill/>
          <a:ln/>
        </p:spPr>
        <p:txBody>
          <a:bodyPr wrap="square" lIns="0" tIns="0" rIns="0" bIns="0" rtlCol="0" anchor="ctr"/>
          <a:lstStyle/>
          <a:p>
            <a:pPr marL="0" indent="0">
              <a:buNone/>
            </a:pPr>
            <a:r>
              <a:rPr lang="en-US" sz="1100" dirty="0">
                <a:solidFill>
                  <a:srgbClr val="5C7373"/>
                </a:solidFill>
                <a:latin typeface="Calibri" pitchFamily="34" charset="0"/>
                <a:ea typeface="Calibri" pitchFamily="34" charset="-122"/>
                <a:cs typeface="Calibri" pitchFamily="34" charset="-120"/>
              </a:rPr>
              <a:t>In Revenues (FY25)</a:t>
            </a:r>
            <a:endParaRPr lang="en-US" sz="1100" dirty="0"/>
          </a:p>
        </p:txBody>
      </p:sp>
      <p:sp>
        <p:nvSpPr>
          <p:cNvPr id="14" name="Shape 12"/>
          <p:cNvSpPr/>
          <p:nvPr/>
        </p:nvSpPr>
        <p:spPr>
          <a:xfrm>
            <a:off x="6903720" y="1600200"/>
            <a:ext cx="4709160" cy="4160520"/>
          </a:xfrm>
          <a:prstGeom prst="roundRect">
            <a:avLst>
              <a:gd name="adj" fmla="val 2198"/>
            </a:avLst>
          </a:prstGeom>
          <a:solidFill>
            <a:srgbClr val="042A2B"/>
          </a:solidFill>
          <a:ln/>
        </p:spPr>
      </p:sp>
      <p:sp>
        <p:nvSpPr>
          <p:cNvPr id="15" name="Text 13"/>
          <p:cNvSpPr/>
          <p:nvPr/>
        </p:nvSpPr>
        <p:spPr>
          <a:xfrm>
            <a:off x="7223760" y="1828800"/>
            <a:ext cx="4114800" cy="320040"/>
          </a:xfrm>
          <a:prstGeom prst="rect">
            <a:avLst/>
          </a:prstGeom>
          <a:noFill/>
          <a:ln/>
        </p:spPr>
        <p:txBody>
          <a:bodyPr wrap="square" lIns="0" tIns="0" rIns="0" bIns="0" rtlCol="0" anchor="ctr"/>
          <a:lstStyle/>
          <a:p>
            <a:pPr marL="0" indent="0">
              <a:buNone/>
            </a:pPr>
            <a:r>
              <a:rPr lang="en-US" sz="1200" b="1" kern="0" spc="150" dirty="0">
                <a:solidFill>
                  <a:srgbClr val="02C39A"/>
                </a:solidFill>
                <a:latin typeface="Calibri" pitchFamily="34" charset="0"/>
                <a:ea typeface="Calibri" pitchFamily="34" charset="-122"/>
                <a:cs typeface="Calibri" pitchFamily="34" charset="-120"/>
              </a:rPr>
              <a:t>BUSINESS MIX (FY26)</a:t>
            </a:r>
            <a:endParaRPr lang="en-US" sz="1200" dirty="0"/>
          </a:p>
        </p:txBody>
      </p:sp>
      <p:sp>
        <p:nvSpPr>
          <p:cNvPr id="16" name="Shape 14"/>
          <p:cNvSpPr/>
          <p:nvPr/>
        </p:nvSpPr>
        <p:spPr>
          <a:xfrm>
            <a:off x="7223760" y="2377440"/>
            <a:ext cx="109728" cy="109728"/>
          </a:xfrm>
          <a:prstGeom prst="ellipse">
            <a:avLst/>
          </a:prstGeom>
          <a:solidFill>
            <a:srgbClr val="02C39A"/>
          </a:solidFill>
          <a:ln/>
        </p:spPr>
      </p:sp>
      <p:sp>
        <p:nvSpPr>
          <p:cNvPr id="17" name="Text 15"/>
          <p:cNvSpPr/>
          <p:nvPr/>
        </p:nvSpPr>
        <p:spPr>
          <a:xfrm>
            <a:off x="7452360" y="2258568"/>
            <a:ext cx="384048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Biosimilars</a:t>
            </a:r>
            <a:endParaRPr lang="en-US" sz="1200" dirty="0"/>
          </a:p>
        </p:txBody>
      </p:sp>
      <p:sp>
        <p:nvSpPr>
          <p:cNvPr id="18" name="Text 16"/>
          <p:cNvSpPr/>
          <p:nvPr/>
        </p:nvSpPr>
        <p:spPr>
          <a:xfrm>
            <a:off x="7452360" y="2587752"/>
            <a:ext cx="4023360" cy="548640"/>
          </a:xfrm>
          <a:prstGeom prst="rect">
            <a:avLst/>
          </a:prstGeom>
          <a:noFill/>
          <a:ln/>
        </p:spPr>
        <p:txBody>
          <a:bodyPr wrap="square" lIns="0" tIns="0" rIns="0" bIns="0" rtlCol="0" anchor="ctr"/>
          <a:lstStyle/>
          <a:p>
            <a:pPr marL="0" indent="0">
              <a:lnSpc>
                <a:spcPct val="120000"/>
              </a:lnSpc>
              <a:buNone/>
            </a:pPr>
            <a:r>
              <a:rPr lang="en-US" sz="1100" dirty="0">
                <a:solidFill>
                  <a:srgbClr val="B9D8D5"/>
                </a:solidFill>
                <a:latin typeface="Calibri" pitchFamily="34" charset="0"/>
                <a:ea typeface="Calibri" pitchFamily="34" charset="-122"/>
                <a:cs typeface="Calibri" pitchFamily="34" charset="-120"/>
              </a:rPr>
              <a:t>~60% of revenue — diabetes, oncology, immunology, ophthalmology, bone health</a:t>
            </a:r>
            <a:endParaRPr lang="en-US" sz="1100" dirty="0"/>
          </a:p>
        </p:txBody>
      </p:sp>
      <p:sp>
        <p:nvSpPr>
          <p:cNvPr id="19" name="Shape 17"/>
          <p:cNvSpPr/>
          <p:nvPr/>
        </p:nvSpPr>
        <p:spPr>
          <a:xfrm>
            <a:off x="7223760" y="3337560"/>
            <a:ext cx="109728" cy="109728"/>
          </a:xfrm>
          <a:prstGeom prst="ellipse">
            <a:avLst/>
          </a:prstGeom>
          <a:solidFill>
            <a:srgbClr val="02C39A"/>
          </a:solidFill>
          <a:ln/>
        </p:spPr>
      </p:sp>
      <p:sp>
        <p:nvSpPr>
          <p:cNvPr id="20" name="Text 18"/>
          <p:cNvSpPr/>
          <p:nvPr/>
        </p:nvSpPr>
        <p:spPr>
          <a:xfrm>
            <a:off x="7452360" y="3218688"/>
            <a:ext cx="384048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Generics</a:t>
            </a:r>
            <a:endParaRPr lang="en-US" sz="1200" dirty="0"/>
          </a:p>
        </p:txBody>
      </p:sp>
      <p:sp>
        <p:nvSpPr>
          <p:cNvPr id="21" name="Text 19"/>
          <p:cNvSpPr/>
          <p:nvPr/>
        </p:nvSpPr>
        <p:spPr>
          <a:xfrm>
            <a:off x="7452360" y="3547872"/>
            <a:ext cx="3931920" cy="548640"/>
          </a:xfrm>
          <a:prstGeom prst="rect">
            <a:avLst/>
          </a:prstGeom>
          <a:noFill/>
          <a:ln/>
        </p:spPr>
        <p:txBody>
          <a:bodyPr wrap="square" lIns="0" tIns="0" rIns="0" bIns="0" rtlCol="0" anchor="ctr"/>
          <a:lstStyle/>
          <a:p>
            <a:pPr marL="0" indent="0">
              <a:lnSpc>
                <a:spcPct val="120000"/>
              </a:lnSpc>
              <a:buNone/>
            </a:pPr>
            <a:r>
              <a:rPr lang="en-US" sz="1100" dirty="0">
                <a:solidFill>
                  <a:srgbClr val="B9D8D5"/>
                </a:solidFill>
                <a:latin typeface="Calibri" pitchFamily="34" charset="0"/>
                <a:ea typeface="Calibri" pitchFamily="34" charset="-122"/>
                <a:cs typeface="Calibri" pitchFamily="34" charset="-120"/>
              </a:rPr>
              <a:t>APIs &amp; formulations — anti-diabetics, immunosuppressants, cardiovascular</a:t>
            </a:r>
            <a:endParaRPr lang="en-US" sz="1100" dirty="0"/>
          </a:p>
        </p:txBody>
      </p:sp>
      <p:sp>
        <p:nvSpPr>
          <p:cNvPr id="22" name="Shape 20"/>
          <p:cNvSpPr/>
          <p:nvPr/>
        </p:nvSpPr>
        <p:spPr>
          <a:xfrm>
            <a:off x="7223760" y="4297680"/>
            <a:ext cx="109728" cy="109728"/>
          </a:xfrm>
          <a:prstGeom prst="ellipse">
            <a:avLst/>
          </a:prstGeom>
          <a:solidFill>
            <a:srgbClr val="02C39A"/>
          </a:solidFill>
          <a:ln/>
        </p:spPr>
      </p:sp>
      <p:sp>
        <p:nvSpPr>
          <p:cNvPr id="23" name="Text 21"/>
          <p:cNvSpPr/>
          <p:nvPr/>
        </p:nvSpPr>
        <p:spPr>
          <a:xfrm>
            <a:off x="7452360" y="4178808"/>
            <a:ext cx="384048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Novel Biologics &amp; CRDMO</a:t>
            </a:r>
            <a:endParaRPr lang="en-US" sz="1200" dirty="0"/>
          </a:p>
        </p:txBody>
      </p:sp>
      <p:sp>
        <p:nvSpPr>
          <p:cNvPr id="24" name="Text 22"/>
          <p:cNvSpPr/>
          <p:nvPr/>
        </p:nvSpPr>
        <p:spPr>
          <a:xfrm>
            <a:off x="7452360" y="4507992"/>
            <a:ext cx="3931920" cy="548640"/>
          </a:xfrm>
          <a:prstGeom prst="rect">
            <a:avLst/>
          </a:prstGeom>
          <a:noFill/>
          <a:ln/>
        </p:spPr>
        <p:txBody>
          <a:bodyPr wrap="square" lIns="0" tIns="0" rIns="0" bIns="0" rtlCol="0" anchor="ctr"/>
          <a:lstStyle/>
          <a:p>
            <a:pPr marL="0" indent="0">
              <a:lnSpc>
                <a:spcPct val="120000"/>
              </a:lnSpc>
              <a:buNone/>
            </a:pPr>
            <a:r>
              <a:rPr lang="en-US" sz="1100" dirty="0">
                <a:solidFill>
                  <a:srgbClr val="B9D8D5"/>
                </a:solidFill>
                <a:latin typeface="Calibri" pitchFamily="34" charset="0"/>
                <a:ea typeface="Calibri" pitchFamily="34" charset="-122"/>
                <a:cs typeface="Calibri" pitchFamily="34" charset="-120"/>
              </a:rPr>
              <a:t>Syngene research services + pipeline biologics</a:t>
            </a:r>
            <a:endParaRPr lang="en-US" sz="1100" dirty="0"/>
          </a:p>
        </p:txBody>
      </p:sp>
      <p:sp>
        <p:nvSpPr>
          <p:cNvPr id="25" name="Text 23"/>
          <p:cNvSpPr/>
          <p:nvPr/>
        </p:nvSpPr>
        <p:spPr>
          <a:xfrm>
            <a:off x="11475720" y="6473952"/>
            <a:ext cx="548640" cy="274320"/>
          </a:xfrm>
          <a:prstGeom prst="rect">
            <a:avLst/>
          </a:prstGeom>
          <a:noFill/>
          <a:ln/>
        </p:spPr>
        <p:txBody>
          <a:bodyPr wrap="square" lIns="0" tIns="0" rIns="0" bIns="0" rtlCol="0" anchor="ctr"/>
          <a:lstStyle/>
          <a:p>
            <a:pPr marL="0" indent="0" algn="r">
              <a:buNone/>
            </a:pPr>
            <a:r>
              <a:rPr lang="en-US" sz="1000" dirty="0">
                <a:solidFill>
                  <a:srgbClr val="5C7373"/>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bg>
      <p:bgPr>
        <a:solidFill>
          <a:srgbClr val="042A2B"/>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marL="0" indent="0">
              <a:buNone/>
            </a:pPr>
            <a:r>
              <a:rPr lang="en-US" sz="1200" b="1" kern="0" spc="200" dirty="0">
                <a:solidFill>
                  <a:srgbClr val="02C39A"/>
                </a:solidFill>
                <a:latin typeface="Calibri" pitchFamily="34" charset="0"/>
                <a:ea typeface="Calibri" pitchFamily="34" charset="-122"/>
                <a:cs typeface="Calibri" pitchFamily="34" charset="-120"/>
              </a:rPr>
              <a:t>CATEGORIES</a:t>
            </a:r>
            <a:endParaRPr lang="en-US" sz="1200" dirty="0"/>
          </a:p>
        </p:txBody>
      </p:sp>
      <p:sp>
        <p:nvSpPr>
          <p:cNvPr id="3" name="Text 1"/>
          <p:cNvSpPr/>
          <p:nvPr/>
        </p:nvSpPr>
        <p:spPr>
          <a:xfrm>
            <a:off x="548640" y="777240"/>
            <a:ext cx="1051560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rPr>
              <a:t>Biocon – Products and Services</a:t>
            </a:r>
            <a:endParaRPr lang="en-US" sz="3200" dirty="0"/>
          </a:p>
        </p:txBody>
      </p:sp>
      <p:sp>
        <p:nvSpPr>
          <p:cNvPr id="4" name="Shape 2"/>
          <p:cNvSpPr/>
          <p:nvPr/>
        </p:nvSpPr>
        <p:spPr>
          <a:xfrm>
            <a:off x="914400" y="3749040"/>
            <a:ext cx="10332720" cy="0"/>
          </a:xfrm>
          <a:prstGeom prst="line">
            <a:avLst/>
          </a:prstGeom>
          <a:noFill/>
          <a:ln w="25400">
            <a:solidFill>
              <a:srgbClr val="00A896"/>
            </a:solidFill>
            <a:prstDash val="solid"/>
          </a:ln>
        </p:spPr>
      </p:sp>
      <p:sp>
        <p:nvSpPr>
          <p:cNvPr id="5" name="Shape 3"/>
          <p:cNvSpPr/>
          <p:nvPr/>
        </p:nvSpPr>
        <p:spPr>
          <a:xfrm>
            <a:off x="2135124" y="3666744"/>
            <a:ext cx="164592" cy="164592"/>
          </a:xfrm>
          <a:prstGeom prst="ellipse">
            <a:avLst/>
          </a:prstGeom>
          <a:solidFill>
            <a:srgbClr val="02C39A"/>
          </a:solidFill>
          <a:ln w="19050">
            <a:solidFill>
              <a:srgbClr val="FFFFFF"/>
            </a:solidFill>
            <a:prstDash val="solid"/>
          </a:ln>
        </p:spPr>
      </p:sp>
      <p:sp>
        <p:nvSpPr>
          <p:cNvPr id="6" name="Text 4"/>
          <p:cNvSpPr/>
          <p:nvPr/>
        </p:nvSpPr>
        <p:spPr>
          <a:xfrm>
            <a:off x="914400" y="2240280"/>
            <a:ext cx="2606040" cy="365760"/>
          </a:xfrm>
          <a:prstGeom prst="rect">
            <a:avLst/>
          </a:prstGeom>
          <a:noFill/>
          <a:ln/>
        </p:spPr>
        <p:txBody>
          <a:bodyPr wrap="square" lIns="0" tIns="0" rIns="0" bIns="0" rtlCol="0" anchor="ctr"/>
          <a:lstStyle/>
          <a:p>
            <a:pPr marL="0" indent="0">
              <a:buNone/>
            </a:pPr>
            <a:r>
              <a:rPr lang="en-US" sz="1500" b="1" dirty="0">
                <a:solidFill>
                  <a:srgbClr val="02C39A"/>
                </a:solidFill>
                <a:latin typeface="Cambria" pitchFamily="34" charset="0"/>
                <a:ea typeface="Cambria" pitchFamily="34" charset="-122"/>
              </a:rPr>
              <a:t>Biosimilars</a:t>
            </a:r>
            <a:endParaRPr lang="en-US" sz="1500" dirty="0"/>
          </a:p>
        </p:txBody>
      </p:sp>
      <p:sp>
        <p:nvSpPr>
          <p:cNvPr id="7" name="Text 5"/>
          <p:cNvSpPr/>
          <p:nvPr/>
        </p:nvSpPr>
        <p:spPr>
          <a:xfrm>
            <a:off x="914400" y="2624328"/>
            <a:ext cx="2606040" cy="1051560"/>
          </a:xfrm>
          <a:prstGeom prst="rect">
            <a:avLst/>
          </a:prstGeom>
          <a:noFill/>
          <a:ln/>
        </p:spPr>
        <p:txBody>
          <a:bodyPr wrap="square" lIns="0" tIns="0" rIns="0" bIns="0" rtlCol="0" anchor="ctr"/>
          <a:lstStyle/>
          <a:p>
            <a:pPr marL="0" indent="0">
              <a:lnSpc>
                <a:spcPct val="120000"/>
              </a:lnSpc>
              <a:buNone/>
            </a:pPr>
            <a:r>
              <a:rPr lang="en-US" sz="1100" dirty="0">
                <a:solidFill>
                  <a:srgbClr val="C7E2DF"/>
                </a:solidFill>
                <a:latin typeface="Calibri" pitchFamily="34" charset="0"/>
                <a:ea typeface="Calibri" pitchFamily="34" charset="-122"/>
                <a:cs typeface="Calibri" pitchFamily="34" charset="-120"/>
              </a:rPr>
              <a:t>Lower-cost versions of costly biologics: insulins, oncology and immunology drugs, plus recent denosumab, aflibercept and ustekinumab launches.</a:t>
            </a:r>
            <a:endParaRPr lang="en-US" sz="1100" dirty="0"/>
          </a:p>
        </p:txBody>
      </p:sp>
      <p:sp>
        <p:nvSpPr>
          <p:cNvPr id="8" name="Shape 6"/>
          <p:cNvSpPr/>
          <p:nvPr/>
        </p:nvSpPr>
        <p:spPr>
          <a:xfrm>
            <a:off x="2217420" y="3703320"/>
            <a:ext cx="0" cy="320040"/>
          </a:xfrm>
          <a:prstGeom prst="line">
            <a:avLst/>
          </a:prstGeom>
          <a:noFill/>
          <a:ln w="12700">
            <a:solidFill>
              <a:srgbClr val="00A896"/>
            </a:solidFill>
            <a:prstDash val="dash"/>
          </a:ln>
        </p:spPr>
      </p:sp>
      <p:sp>
        <p:nvSpPr>
          <p:cNvPr id="9" name="Shape 7"/>
          <p:cNvSpPr/>
          <p:nvPr/>
        </p:nvSpPr>
        <p:spPr>
          <a:xfrm>
            <a:off x="4905756" y="3666744"/>
            <a:ext cx="164592" cy="164592"/>
          </a:xfrm>
          <a:prstGeom prst="ellipse">
            <a:avLst/>
          </a:prstGeom>
          <a:solidFill>
            <a:srgbClr val="02C39A"/>
          </a:solidFill>
          <a:ln w="19050">
            <a:solidFill>
              <a:srgbClr val="FFFFFF"/>
            </a:solidFill>
            <a:prstDash val="solid"/>
          </a:ln>
        </p:spPr>
      </p:sp>
      <p:sp>
        <p:nvSpPr>
          <p:cNvPr id="10" name="Text 8"/>
          <p:cNvSpPr/>
          <p:nvPr/>
        </p:nvSpPr>
        <p:spPr>
          <a:xfrm>
            <a:off x="3685032" y="4069080"/>
            <a:ext cx="2606040" cy="365760"/>
          </a:xfrm>
          <a:prstGeom prst="rect">
            <a:avLst/>
          </a:prstGeom>
          <a:noFill/>
          <a:ln/>
        </p:spPr>
        <p:txBody>
          <a:bodyPr wrap="square" lIns="0" tIns="0" rIns="0" bIns="0" rtlCol="0" anchor="ctr"/>
          <a:lstStyle/>
          <a:p>
            <a:pPr marL="0" indent="0">
              <a:buNone/>
            </a:pPr>
            <a:r>
              <a:rPr lang="en-US" sz="1500" b="1" dirty="0">
                <a:solidFill>
                  <a:srgbClr val="02C39A"/>
                </a:solidFill>
                <a:latin typeface="Cambria" pitchFamily="34" charset="0"/>
                <a:ea typeface="Cambria" pitchFamily="34" charset="-122"/>
              </a:rPr>
              <a:t>Generics and APIs</a:t>
            </a:r>
            <a:endParaRPr lang="en-US" sz="1500" dirty="0"/>
          </a:p>
        </p:txBody>
      </p:sp>
      <p:sp>
        <p:nvSpPr>
          <p:cNvPr id="11" name="Text 9"/>
          <p:cNvSpPr/>
          <p:nvPr/>
        </p:nvSpPr>
        <p:spPr>
          <a:xfrm>
            <a:off x="3685032" y="4453128"/>
            <a:ext cx="2606040" cy="1051560"/>
          </a:xfrm>
          <a:prstGeom prst="rect">
            <a:avLst/>
          </a:prstGeom>
          <a:noFill/>
          <a:ln/>
        </p:spPr>
        <p:txBody>
          <a:bodyPr wrap="square" lIns="0" tIns="0" rIns="0" bIns="0" rtlCol="0" anchor="ctr"/>
          <a:lstStyle/>
          <a:p>
            <a:pPr marL="0" indent="0">
              <a:lnSpc>
                <a:spcPct val="120000"/>
              </a:lnSpc>
              <a:buNone/>
            </a:pPr>
            <a:r>
              <a:rPr lang="en-US" sz="1100" dirty="0">
                <a:solidFill>
                  <a:srgbClr val="C7E2DF"/>
                </a:solidFill>
                <a:latin typeface="Calibri" pitchFamily="34" charset="0"/>
                <a:ea typeface="Calibri" pitchFamily="34" charset="-122"/>
                <a:cs typeface="Calibri" pitchFamily="34" charset="-120"/>
              </a:rPr>
              <a:t>Statins and immunosuppressants supplied to drug makers worldwide; generic liraglutide launched in the US.</a:t>
            </a:r>
            <a:endParaRPr lang="en-US" sz="1100" dirty="0"/>
          </a:p>
        </p:txBody>
      </p:sp>
      <p:sp>
        <p:nvSpPr>
          <p:cNvPr id="12" name="Shape 10"/>
          <p:cNvSpPr/>
          <p:nvPr/>
        </p:nvSpPr>
        <p:spPr>
          <a:xfrm>
            <a:off x="4988052" y="3749040"/>
            <a:ext cx="0" cy="320040"/>
          </a:xfrm>
          <a:prstGeom prst="line">
            <a:avLst/>
          </a:prstGeom>
          <a:noFill/>
          <a:ln w="12700">
            <a:solidFill>
              <a:srgbClr val="00A896"/>
            </a:solidFill>
            <a:prstDash val="dash"/>
          </a:ln>
        </p:spPr>
      </p:sp>
      <p:sp>
        <p:nvSpPr>
          <p:cNvPr id="13" name="Shape 11"/>
          <p:cNvSpPr/>
          <p:nvPr/>
        </p:nvSpPr>
        <p:spPr>
          <a:xfrm>
            <a:off x="7676388" y="3666744"/>
            <a:ext cx="164592" cy="164592"/>
          </a:xfrm>
          <a:prstGeom prst="ellipse">
            <a:avLst/>
          </a:prstGeom>
          <a:solidFill>
            <a:srgbClr val="02C39A"/>
          </a:solidFill>
          <a:ln w="19050">
            <a:solidFill>
              <a:srgbClr val="FFFFFF"/>
            </a:solidFill>
            <a:prstDash val="solid"/>
          </a:ln>
        </p:spPr>
      </p:sp>
      <p:sp>
        <p:nvSpPr>
          <p:cNvPr id="14" name="Text 12"/>
          <p:cNvSpPr/>
          <p:nvPr/>
        </p:nvSpPr>
        <p:spPr>
          <a:xfrm>
            <a:off x="6455664" y="2240280"/>
            <a:ext cx="2606040" cy="365760"/>
          </a:xfrm>
          <a:prstGeom prst="rect">
            <a:avLst/>
          </a:prstGeom>
          <a:noFill/>
          <a:ln/>
        </p:spPr>
        <p:txBody>
          <a:bodyPr wrap="square" lIns="0" tIns="0" rIns="0" bIns="0" rtlCol="0" anchor="ctr"/>
          <a:lstStyle/>
          <a:p>
            <a:pPr marL="0" indent="0">
              <a:buNone/>
            </a:pPr>
            <a:r>
              <a:rPr lang="en-US" sz="1500" b="1" dirty="0">
                <a:solidFill>
                  <a:srgbClr val="02C39A"/>
                </a:solidFill>
                <a:latin typeface="Cambria" pitchFamily="34" charset="0"/>
                <a:ea typeface="Cambria" pitchFamily="34" charset="-122"/>
              </a:rPr>
              <a:t>Novel Biologics</a:t>
            </a:r>
            <a:endParaRPr lang="en-US" sz="1500" dirty="0"/>
          </a:p>
        </p:txBody>
      </p:sp>
      <p:sp>
        <p:nvSpPr>
          <p:cNvPr id="15" name="Text 13"/>
          <p:cNvSpPr/>
          <p:nvPr/>
        </p:nvSpPr>
        <p:spPr>
          <a:xfrm>
            <a:off x="6455664" y="2624328"/>
            <a:ext cx="2606040" cy="1051560"/>
          </a:xfrm>
          <a:prstGeom prst="rect">
            <a:avLst/>
          </a:prstGeom>
          <a:noFill/>
          <a:ln/>
        </p:spPr>
        <p:txBody>
          <a:bodyPr wrap="square" lIns="0" tIns="0" rIns="0" bIns="0" rtlCol="0" anchor="ctr"/>
          <a:lstStyle/>
          <a:p>
            <a:r>
              <a:rPr lang="en-IN" sz="1100" dirty="0">
                <a:solidFill>
                  <a:srgbClr val="C7E2DF"/>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Nimotuzumab</a:t>
            </a:r>
            <a:r>
              <a:rPr lang="en-IN" sz="1100" dirty="0">
                <a:solidFill>
                  <a:srgbClr val="C7E2DF"/>
                </a:solidFill>
                <a:latin typeface="Calibri" pitchFamily="34" charset="0"/>
                <a:ea typeface="Calibri" pitchFamily="34" charset="-122"/>
                <a:cs typeface="Calibri" pitchFamily="34" charset="-120"/>
              </a:rPr>
              <a:t> &amp; </a:t>
            </a:r>
            <a:r>
              <a:rPr lang="en-IN" sz="1100" dirty="0" err="1">
                <a:solidFill>
                  <a:srgbClr val="C7E2DF"/>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Itolizumab</a:t>
            </a:r>
            <a:r>
              <a:rPr lang="en-IN" sz="1100" dirty="0">
                <a:solidFill>
                  <a:srgbClr val="C7E2DF"/>
                </a:solidFill>
                <a:latin typeface="Calibri" pitchFamily="34" charset="0"/>
                <a:ea typeface="Calibri" pitchFamily="34" charset="-122"/>
                <a:cs typeface="Calibri" pitchFamily="34" charset="-120"/>
              </a:rPr>
              <a:t> are novel monoclonal antibodies produced to tackle cancer and autoimmune conditions </a:t>
            </a:r>
            <a:endParaRPr lang="en-US" sz="1100" dirty="0">
              <a:solidFill>
                <a:srgbClr val="C7E2DF"/>
              </a:solidFill>
              <a:latin typeface="Calibri" pitchFamily="34" charset="0"/>
              <a:ea typeface="Calibri" pitchFamily="34" charset="-122"/>
              <a:cs typeface="Calibri" pitchFamily="34" charset="-120"/>
            </a:endParaRPr>
          </a:p>
        </p:txBody>
      </p:sp>
      <p:sp>
        <p:nvSpPr>
          <p:cNvPr id="16" name="Shape 14"/>
          <p:cNvSpPr/>
          <p:nvPr/>
        </p:nvSpPr>
        <p:spPr>
          <a:xfrm>
            <a:off x="7758684" y="3703320"/>
            <a:ext cx="0" cy="320040"/>
          </a:xfrm>
          <a:prstGeom prst="line">
            <a:avLst/>
          </a:prstGeom>
          <a:noFill/>
          <a:ln w="12700">
            <a:solidFill>
              <a:srgbClr val="00A896"/>
            </a:solidFill>
            <a:prstDash val="dash"/>
          </a:ln>
        </p:spPr>
      </p:sp>
      <p:sp>
        <p:nvSpPr>
          <p:cNvPr id="17" name="Shape 15"/>
          <p:cNvSpPr/>
          <p:nvPr/>
        </p:nvSpPr>
        <p:spPr>
          <a:xfrm>
            <a:off x="10447020" y="3666744"/>
            <a:ext cx="164592" cy="164592"/>
          </a:xfrm>
          <a:prstGeom prst="ellipse">
            <a:avLst/>
          </a:prstGeom>
          <a:solidFill>
            <a:srgbClr val="02C39A"/>
          </a:solidFill>
          <a:ln w="19050">
            <a:solidFill>
              <a:srgbClr val="FFFFFF"/>
            </a:solidFill>
            <a:prstDash val="solid"/>
          </a:ln>
        </p:spPr>
      </p:sp>
      <p:sp>
        <p:nvSpPr>
          <p:cNvPr id="18" name="Text 16"/>
          <p:cNvSpPr/>
          <p:nvPr/>
        </p:nvSpPr>
        <p:spPr>
          <a:xfrm>
            <a:off x="9226296" y="4069080"/>
            <a:ext cx="2606040" cy="365760"/>
          </a:xfrm>
          <a:prstGeom prst="rect">
            <a:avLst/>
          </a:prstGeom>
          <a:noFill/>
          <a:ln/>
        </p:spPr>
        <p:txBody>
          <a:bodyPr wrap="square" lIns="0" tIns="0" rIns="0" bIns="0" rtlCol="0" anchor="ctr"/>
          <a:lstStyle/>
          <a:p>
            <a:pPr marL="0" indent="0">
              <a:buNone/>
            </a:pPr>
            <a:r>
              <a:rPr lang="en-US" sz="1500" b="1" dirty="0">
                <a:solidFill>
                  <a:srgbClr val="02C39A"/>
                </a:solidFill>
                <a:latin typeface="Cambria" pitchFamily="34" charset="0"/>
                <a:ea typeface="Cambria" pitchFamily="34" charset="-122"/>
              </a:rPr>
              <a:t>Research Services</a:t>
            </a:r>
            <a:endParaRPr lang="en-US" sz="1500" dirty="0"/>
          </a:p>
        </p:txBody>
      </p:sp>
      <p:sp>
        <p:nvSpPr>
          <p:cNvPr id="19" name="Text 17"/>
          <p:cNvSpPr/>
          <p:nvPr/>
        </p:nvSpPr>
        <p:spPr>
          <a:xfrm>
            <a:off x="9226296" y="4453128"/>
            <a:ext cx="2606040" cy="1051560"/>
          </a:xfrm>
          <a:prstGeom prst="rect">
            <a:avLst/>
          </a:prstGeom>
          <a:noFill/>
          <a:ln/>
        </p:spPr>
        <p:txBody>
          <a:bodyPr wrap="square" lIns="0" tIns="0" rIns="0" bIns="0" rtlCol="0" anchor="ctr"/>
          <a:lstStyle/>
          <a:p>
            <a:pPr marL="0" indent="0">
              <a:lnSpc>
                <a:spcPct val="120000"/>
              </a:lnSpc>
              <a:buNone/>
            </a:pPr>
            <a:r>
              <a:rPr lang="en-US" sz="1100" dirty="0" err="1">
                <a:solidFill>
                  <a:srgbClr val="C7E2DF"/>
                </a:solidFill>
                <a:latin typeface="Calibri" pitchFamily="34" charset="0"/>
                <a:ea typeface="Calibri" pitchFamily="34" charset="-122"/>
                <a:cs typeface="Calibri" pitchFamily="34" charset="-120"/>
              </a:rPr>
              <a:t>Syngene</a:t>
            </a:r>
            <a:r>
              <a:rPr lang="en-US" sz="1100" dirty="0">
                <a:solidFill>
                  <a:srgbClr val="C7E2DF"/>
                </a:solidFill>
                <a:latin typeface="Calibri" pitchFamily="34" charset="0"/>
                <a:ea typeface="Calibri" pitchFamily="34" charset="-122"/>
                <a:cs typeface="Calibri" pitchFamily="34" charset="-120"/>
              </a:rPr>
              <a:t> provides contract research and manufacturing; about 17% of the revenue mix.</a:t>
            </a:r>
            <a:endParaRPr lang="en-US" sz="1100" dirty="0"/>
          </a:p>
        </p:txBody>
      </p:sp>
      <p:sp>
        <p:nvSpPr>
          <p:cNvPr id="20" name="Shape 18"/>
          <p:cNvSpPr/>
          <p:nvPr/>
        </p:nvSpPr>
        <p:spPr>
          <a:xfrm>
            <a:off x="10529316" y="3749040"/>
            <a:ext cx="0" cy="320040"/>
          </a:xfrm>
          <a:prstGeom prst="line">
            <a:avLst/>
          </a:prstGeom>
          <a:noFill/>
          <a:ln w="12700">
            <a:solidFill>
              <a:srgbClr val="00A896"/>
            </a:solidFill>
            <a:prstDash val="dash"/>
          </a:ln>
        </p:spPr>
      </p:sp>
      <p:sp>
        <p:nvSpPr>
          <p:cNvPr id="21" name="Text 19"/>
          <p:cNvSpPr/>
          <p:nvPr/>
        </p:nvSpPr>
        <p:spPr>
          <a:xfrm>
            <a:off x="11475720" y="6473952"/>
            <a:ext cx="548640" cy="274320"/>
          </a:xfrm>
          <a:prstGeom prst="rect">
            <a:avLst/>
          </a:prstGeom>
          <a:noFill/>
          <a:ln/>
        </p:spPr>
        <p:txBody>
          <a:bodyPr wrap="square" lIns="0" tIns="0" rIns="0" bIns="0" rtlCol="0" anchor="ctr"/>
          <a:lstStyle/>
          <a:p>
            <a:pPr marL="0" indent="0" algn="r">
              <a:buNone/>
            </a:pPr>
            <a:r>
              <a:rPr lang="en-US" sz="1000" dirty="0">
                <a:solidFill>
                  <a:srgbClr val="9FC9C6"/>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marL="0" indent="0">
              <a:buNone/>
            </a:pPr>
            <a:r>
              <a:rPr lang="en-US" sz="1200" b="1" kern="0" spc="200" dirty="0">
                <a:solidFill>
                  <a:srgbClr val="028090"/>
                </a:solidFill>
                <a:latin typeface="Calibri" pitchFamily="34" charset="0"/>
                <a:ea typeface="Calibri" pitchFamily="34" charset="-122"/>
                <a:cs typeface="Calibri" pitchFamily="34" charset="-120"/>
              </a:rPr>
              <a:t>THE CORE INNOVATION</a:t>
            </a:r>
            <a:endParaRPr lang="en-US" sz="1200" dirty="0"/>
          </a:p>
        </p:txBody>
      </p:sp>
      <p:sp>
        <p:nvSpPr>
          <p:cNvPr id="3" name="Text 1"/>
          <p:cNvSpPr/>
          <p:nvPr/>
        </p:nvSpPr>
        <p:spPr>
          <a:xfrm>
            <a:off x="548640" y="777240"/>
            <a:ext cx="10515600" cy="822960"/>
          </a:xfrm>
          <a:prstGeom prst="rect">
            <a:avLst/>
          </a:prstGeom>
          <a:noFill/>
          <a:ln/>
        </p:spPr>
        <p:txBody>
          <a:bodyPr wrap="square" lIns="0" tIns="0" rIns="0" bIns="0" rtlCol="0" anchor="ctr"/>
          <a:lstStyle/>
          <a:p>
            <a:pPr marL="0" indent="0">
              <a:buNone/>
            </a:pPr>
            <a:r>
              <a:rPr lang="en-US" sz="3200" b="1" dirty="0">
                <a:solidFill>
                  <a:srgbClr val="1B2B2C"/>
                </a:solidFill>
                <a:latin typeface="Cambria" pitchFamily="34" charset="0"/>
                <a:ea typeface="Cambria" pitchFamily="34" charset="-122"/>
                <a:cs typeface="Cambria" pitchFamily="34" charset="-120"/>
              </a:rPr>
              <a:t>Biosimilars</a:t>
            </a:r>
            <a:endParaRPr lang="en-US" sz="3200" dirty="0"/>
          </a:p>
        </p:txBody>
      </p:sp>
      <p:sp>
        <p:nvSpPr>
          <p:cNvPr id="4" name="Text 2"/>
          <p:cNvSpPr/>
          <p:nvPr/>
        </p:nvSpPr>
        <p:spPr>
          <a:xfrm>
            <a:off x="548640" y="1600200"/>
            <a:ext cx="10881360" cy="914400"/>
          </a:xfrm>
          <a:prstGeom prst="rect">
            <a:avLst/>
          </a:prstGeom>
          <a:noFill/>
          <a:ln/>
        </p:spPr>
        <p:txBody>
          <a:bodyPr wrap="square" lIns="0" tIns="0" rIns="0" bIns="0" rtlCol="0" anchor="ctr"/>
          <a:lstStyle/>
          <a:p>
            <a:pPr marL="0" indent="0">
              <a:lnSpc>
                <a:spcPct val="125000"/>
              </a:lnSpc>
              <a:buNone/>
            </a:pPr>
            <a:r>
              <a:rPr lang="en-US" sz="1350" dirty="0">
                <a:solidFill>
                  <a:srgbClr val="1B2B2C"/>
                </a:solidFill>
                <a:latin typeface="Calibri" pitchFamily="34" charset="0"/>
                <a:ea typeface="Calibri" pitchFamily="34" charset="-122"/>
                <a:cs typeface="Calibri" pitchFamily="34" charset="-120"/>
              </a:rPr>
              <a:t>Biocon's foundational innovation is proprietary recombinant fermentation technology — using microbial hosts such as Pichia pastoris yeast to manufacture complex human proteins at industrial scale and lower cost than legacy processes. This platform underpins its entire biosimilars business. It now makes up more that 60% of the total revenue.</a:t>
            </a:r>
            <a:endParaRPr lang="en-US" sz="1350" dirty="0"/>
          </a:p>
        </p:txBody>
      </p:sp>
      <p:sp>
        <p:nvSpPr>
          <p:cNvPr id="5" name="Shape 3"/>
          <p:cNvSpPr/>
          <p:nvPr/>
        </p:nvSpPr>
        <p:spPr>
          <a:xfrm>
            <a:off x="548640" y="2788920"/>
            <a:ext cx="2651760" cy="3063240"/>
          </a:xfrm>
          <a:prstGeom prst="roundRect">
            <a:avLst>
              <a:gd name="adj" fmla="val 2759"/>
            </a:avLst>
          </a:prstGeom>
          <a:solidFill>
            <a:srgbClr val="F4FAF9"/>
          </a:solidFill>
          <a:ln w="12700">
            <a:solidFill>
              <a:srgbClr val="DCEDEA"/>
            </a:solidFill>
            <a:prstDash val="solid"/>
          </a:ln>
        </p:spPr>
      </p:sp>
      <p:sp>
        <p:nvSpPr>
          <p:cNvPr id="6" name="Shape 4"/>
          <p:cNvSpPr/>
          <p:nvPr/>
        </p:nvSpPr>
        <p:spPr>
          <a:xfrm>
            <a:off x="749808" y="2990088"/>
            <a:ext cx="502920" cy="502920"/>
          </a:xfrm>
          <a:prstGeom prst="ellipse">
            <a:avLst/>
          </a:prstGeom>
          <a:solidFill>
            <a:srgbClr val="028090"/>
          </a:solidFill>
          <a:ln/>
        </p:spPr>
      </p:sp>
      <p:sp>
        <p:nvSpPr>
          <p:cNvPr id="7" name="Text 5"/>
          <p:cNvSpPr/>
          <p:nvPr/>
        </p:nvSpPr>
        <p:spPr>
          <a:xfrm>
            <a:off x="749808" y="2990088"/>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8" name="Text 6"/>
          <p:cNvSpPr/>
          <p:nvPr/>
        </p:nvSpPr>
        <p:spPr>
          <a:xfrm>
            <a:off x="731520" y="3898232"/>
            <a:ext cx="2286000" cy="445168"/>
          </a:xfrm>
          <a:prstGeom prst="rect">
            <a:avLst/>
          </a:prstGeom>
          <a:noFill/>
          <a:ln/>
        </p:spPr>
        <p:txBody>
          <a:bodyPr wrap="square" lIns="0" tIns="0" rIns="0" bIns="0" rtlCol="0" anchor="ctr"/>
          <a:lstStyle/>
          <a:p>
            <a:pPr>
              <a:lnSpc>
                <a:spcPct val="110000"/>
              </a:lnSpc>
            </a:pPr>
            <a:r>
              <a:rPr lang="en-IN" sz="1350" b="1" dirty="0">
                <a:solidFill>
                  <a:srgbClr val="1B2B2C"/>
                </a:solidFill>
                <a:latin typeface="Calibri" pitchFamily="34" charset="0"/>
                <a:ea typeface="Calibri" pitchFamily="34" charset="-122"/>
                <a:cs typeface="Calibri" pitchFamily="34" charset="-120"/>
              </a:rPr>
              <a:t>Lab-to-Patient Model with Global Scale</a:t>
            </a:r>
          </a:p>
        </p:txBody>
      </p:sp>
      <p:sp>
        <p:nvSpPr>
          <p:cNvPr id="9" name="Text 7"/>
          <p:cNvSpPr/>
          <p:nvPr/>
        </p:nvSpPr>
        <p:spPr>
          <a:xfrm>
            <a:off x="731520" y="4343400"/>
            <a:ext cx="2286000" cy="1371600"/>
          </a:xfrm>
          <a:prstGeom prst="rect">
            <a:avLst/>
          </a:prstGeom>
          <a:noFill/>
          <a:ln/>
        </p:spPr>
        <p:txBody>
          <a:bodyPr wrap="square" lIns="0" tIns="0" rIns="0" bIns="0" rtlCol="0" anchor="ctr"/>
          <a:lstStyle/>
          <a:p>
            <a:pPr marL="0" indent="0">
              <a:lnSpc>
                <a:spcPct val="100000"/>
              </a:lnSpc>
              <a:buNone/>
            </a:pPr>
            <a:endParaRPr lang="en-US" sz="1100" dirty="0">
              <a:solidFill>
                <a:srgbClr val="5C7373"/>
              </a:solidFill>
              <a:latin typeface="Calibri" pitchFamily="34" charset="0"/>
              <a:ea typeface="Calibri" pitchFamily="34" charset="-122"/>
              <a:cs typeface="Calibri" pitchFamily="34" charset="-120"/>
            </a:endParaRPr>
          </a:p>
          <a:p>
            <a:pPr marL="0" indent="0">
              <a:lnSpc>
                <a:spcPct val="100000"/>
              </a:lnSpc>
              <a:buNone/>
            </a:pPr>
            <a:r>
              <a:rPr lang="en-US" sz="1100" dirty="0">
                <a:solidFill>
                  <a:srgbClr val="5C7373"/>
                </a:solidFill>
                <a:latin typeface="Calibri" pitchFamily="34" charset="0"/>
                <a:ea typeface="Calibri" pitchFamily="34" charset="-122"/>
                <a:cs typeface="Calibri" pitchFamily="34" charset="-120"/>
              </a:rPr>
              <a:t>Spans research, development, manufacturing and commercialization. Uniquely equipped to consistently and reliably deliver high-quality medicines worldwide.</a:t>
            </a:r>
            <a:endParaRPr lang="en-US" sz="1100" dirty="0"/>
          </a:p>
        </p:txBody>
      </p:sp>
      <p:sp>
        <p:nvSpPr>
          <p:cNvPr id="10" name="Shape 8"/>
          <p:cNvSpPr/>
          <p:nvPr/>
        </p:nvSpPr>
        <p:spPr>
          <a:xfrm>
            <a:off x="3383280" y="2788920"/>
            <a:ext cx="2651760" cy="3063240"/>
          </a:xfrm>
          <a:prstGeom prst="roundRect">
            <a:avLst>
              <a:gd name="adj" fmla="val 2759"/>
            </a:avLst>
          </a:prstGeom>
          <a:solidFill>
            <a:srgbClr val="EAF6F4"/>
          </a:solidFill>
          <a:ln w="12700">
            <a:solidFill>
              <a:srgbClr val="DCEDEA"/>
            </a:solidFill>
            <a:prstDash val="solid"/>
          </a:ln>
        </p:spPr>
      </p:sp>
      <p:sp>
        <p:nvSpPr>
          <p:cNvPr id="11" name="Shape 9"/>
          <p:cNvSpPr/>
          <p:nvPr/>
        </p:nvSpPr>
        <p:spPr>
          <a:xfrm>
            <a:off x="3584448" y="2990088"/>
            <a:ext cx="502920" cy="502920"/>
          </a:xfrm>
          <a:prstGeom prst="ellipse">
            <a:avLst/>
          </a:prstGeom>
          <a:solidFill>
            <a:srgbClr val="028090"/>
          </a:solidFill>
          <a:ln/>
        </p:spPr>
      </p:sp>
      <p:sp>
        <p:nvSpPr>
          <p:cNvPr id="12" name="Text 10"/>
          <p:cNvSpPr/>
          <p:nvPr/>
        </p:nvSpPr>
        <p:spPr>
          <a:xfrm>
            <a:off x="3584448" y="2990088"/>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3" name="Text 11"/>
          <p:cNvSpPr/>
          <p:nvPr/>
        </p:nvSpPr>
        <p:spPr>
          <a:xfrm>
            <a:off x="3566160" y="3657600"/>
            <a:ext cx="2286000" cy="685800"/>
          </a:xfrm>
          <a:prstGeom prst="rect">
            <a:avLst/>
          </a:prstGeom>
          <a:noFill/>
          <a:ln/>
        </p:spPr>
        <p:txBody>
          <a:bodyPr wrap="square" lIns="0" tIns="0" rIns="0" bIns="0" rtlCol="0" anchor="ctr"/>
          <a:lstStyle/>
          <a:p>
            <a:pPr>
              <a:lnSpc>
                <a:spcPct val="110000"/>
              </a:lnSpc>
            </a:pPr>
            <a:r>
              <a:rPr lang="en-US" sz="1350" b="1" dirty="0">
                <a:solidFill>
                  <a:srgbClr val="1B2B2C"/>
                </a:solidFill>
                <a:latin typeface="Calibri" pitchFamily="34" charset="0"/>
                <a:ea typeface="Calibri" pitchFamily="34" charset="-122"/>
                <a:cs typeface="Calibri" pitchFamily="34" charset="-120"/>
              </a:rPr>
              <a:t>Global Regulatory Approval</a:t>
            </a:r>
            <a:endParaRPr lang="en-US" sz="1350" dirty="0"/>
          </a:p>
        </p:txBody>
      </p:sp>
      <p:sp>
        <p:nvSpPr>
          <p:cNvPr id="14" name="Text 12"/>
          <p:cNvSpPr/>
          <p:nvPr/>
        </p:nvSpPr>
        <p:spPr>
          <a:xfrm>
            <a:off x="3566160" y="4343400"/>
            <a:ext cx="2286000" cy="1371600"/>
          </a:xfrm>
          <a:prstGeom prst="rect">
            <a:avLst/>
          </a:prstGeom>
          <a:noFill/>
          <a:ln/>
        </p:spPr>
        <p:txBody>
          <a:bodyPr wrap="square" lIns="0" tIns="0" rIns="0" bIns="0" rtlCol="0" anchor="ctr"/>
          <a:lstStyle/>
          <a:p>
            <a:pPr>
              <a:lnSpc>
                <a:spcPct val="125000"/>
              </a:lnSpc>
            </a:pPr>
            <a:r>
              <a:rPr lang="en-US" sz="1100" dirty="0">
                <a:solidFill>
                  <a:srgbClr val="5C7373"/>
                </a:solidFill>
                <a:latin typeface="Calibri" pitchFamily="34" charset="0"/>
                <a:ea typeface="Calibri" pitchFamily="34" charset="-122"/>
                <a:cs typeface="Calibri" pitchFamily="34" charset="-120"/>
              </a:rPr>
              <a:t>Files with USFDA, EMA and other agencies, demonstrating no clinically meaningful difference from the reference product.</a:t>
            </a:r>
            <a:endParaRPr lang="en-US" sz="1100" dirty="0"/>
          </a:p>
        </p:txBody>
      </p:sp>
      <p:sp>
        <p:nvSpPr>
          <p:cNvPr id="15" name="Shape 13"/>
          <p:cNvSpPr/>
          <p:nvPr/>
        </p:nvSpPr>
        <p:spPr>
          <a:xfrm>
            <a:off x="6217920" y="2788920"/>
            <a:ext cx="2651760" cy="3063240"/>
          </a:xfrm>
          <a:prstGeom prst="roundRect">
            <a:avLst>
              <a:gd name="adj" fmla="val 2759"/>
            </a:avLst>
          </a:prstGeom>
          <a:solidFill>
            <a:srgbClr val="F4FAF9"/>
          </a:solidFill>
          <a:ln w="12700">
            <a:solidFill>
              <a:srgbClr val="DCEDEA"/>
            </a:solidFill>
            <a:prstDash val="solid"/>
          </a:ln>
        </p:spPr>
      </p:sp>
      <p:sp>
        <p:nvSpPr>
          <p:cNvPr id="16" name="Shape 14"/>
          <p:cNvSpPr/>
          <p:nvPr/>
        </p:nvSpPr>
        <p:spPr>
          <a:xfrm>
            <a:off x="6419088" y="2990088"/>
            <a:ext cx="502920" cy="502920"/>
          </a:xfrm>
          <a:prstGeom prst="ellipse">
            <a:avLst/>
          </a:prstGeom>
          <a:solidFill>
            <a:srgbClr val="028090"/>
          </a:solidFill>
          <a:ln/>
        </p:spPr>
      </p:sp>
      <p:sp>
        <p:nvSpPr>
          <p:cNvPr id="17" name="Text 15"/>
          <p:cNvSpPr/>
          <p:nvPr/>
        </p:nvSpPr>
        <p:spPr>
          <a:xfrm>
            <a:off x="6419088" y="2990088"/>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8" name="Text 16"/>
          <p:cNvSpPr/>
          <p:nvPr/>
        </p:nvSpPr>
        <p:spPr>
          <a:xfrm>
            <a:off x="6400800" y="3657600"/>
            <a:ext cx="2286000" cy="685800"/>
          </a:xfrm>
          <a:prstGeom prst="rect">
            <a:avLst/>
          </a:prstGeom>
          <a:noFill/>
          <a:ln/>
        </p:spPr>
        <p:txBody>
          <a:bodyPr wrap="square" lIns="0" tIns="0" rIns="0" bIns="0" rtlCol="0" anchor="ctr"/>
          <a:lstStyle/>
          <a:p>
            <a:pPr marL="0" indent="0">
              <a:lnSpc>
                <a:spcPct val="110000"/>
              </a:lnSpc>
              <a:buNone/>
            </a:pPr>
            <a:r>
              <a:rPr lang="en-US" sz="1350" b="1" dirty="0">
                <a:solidFill>
                  <a:srgbClr val="1B2B2C"/>
                </a:solidFill>
                <a:latin typeface="Calibri" pitchFamily="34" charset="0"/>
                <a:ea typeface="Calibri" pitchFamily="34" charset="-122"/>
                <a:cs typeface="Calibri" pitchFamily="34" charset="-120"/>
              </a:rPr>
              <a:t>Affordable Global Access</a:t>
            </a:r>
            <a:endParaRPr lang="en-US" sz="1350" dirty="0"/>
          </a:p>
        </p:txBody>
      </p:sp>
      <p:sp>
        <p:nvSpPr>
          <p:cNvPr id="19" name="Text 17"/>
          <p:cNvSpPr/>
          <p:nvPr/>
        </p:nvSpPr>
        <p:spPr>
          <a:xfrm>
            <a:off x="6400800" y="4343400"/>
            <a:ext cx="2286000" cy="1371600"/>
          </a:xfrm>
          <a:prstGeom prst="rect">
            <a:avLst/>
          </a:prstGeom>
          <a:noFill/>
          <a:ln/>
        </p:spPr>
        <p:txBody>
          <a:bodyPr wrap="square" lIns="0" tIns="0" rIns="0" bIns="0" rtlCol="0" anchor="ctr"/>
          <a:lstStyle/>
          <a:p>
            <a:pPr>
              <a:lnSpc>
                <a:spcPct val="125000"/>
              </a:lnSpc>
            </a:pPr>
            <a:r>
              <a:rPr lang="en-US" sz="1100" dirty="0">
                <a:solidFill>
                  <a:srgbClr val="5C7373"/>
                </a:solidFill>
                <a:latin typeface="Calibri" pitchFamily="34" charset="0"/>
                <a:ea typeface="Calibri" pitchFamily="34" charset="-122"/>
                <a:cs typeface="Calibri" pitchFamily="34" charset="-120"/>
              </a:rPr>
              <a:t>Manufacture and distribute at scale, cutting treatment cost for patients across 120+ countries.</a:t>
            </a:r>
            <a:endParaRPr lang="en-US" sz="1100" dirty="0"/>
          </a:p>
        </p:txBody>
      </p:sp>
      <p:sp>
        <p:nvSpPr>
          <p:cNvPr id="20" name="Shape 18"/>
          <p:cNvSpPr/>
          <p:nvPr/>
        </p:nvSpPr>
        <p:spPr>
          <a:xfrm>
            <a:off x="9052560" y="2788920"/>
            <a:ext cx="2651760" cy="3063240"/>
          </a:xfrm>
          <a:prstGeom prst="roundRect">
            <a:avLst>
              <a:gd name="adj" fmla="val 2759"/>
            </a:avLst>
          </a:prstGeom>
          <a:solidFill>
            <a:srgbClr val="EAF6F4"/>
          </a:solidFill>
          <a:ln w="12700">
            <a:solidFill>
              <a:srgbClr val="DCEDEA"/>
            </a:solidFill>
            <a:prstDash val="solid"/>
          </a:ln>
        </p:spPr>
      </p:sp>
      <p:sp>
        <p:nvSpPr>
          <p:cNvPr id="21" name="Shape 19"/>
          <p:cNvSpPr/>
          <p:nvPr/>
        </p:nvSpPr>
        <p:spPr>
          <a:xfrm>
            <a:off x="9253728" y="2990088"/>
            <a:ext cx="502920" cy="502920"/>
          </a:xfrm>
          <a:prstGeom prst="ellipse">
            <a:avLst/>
          </a:prstGeom>
          <a:solidFill>
            <a:srgbClr val="028090"/>
          </a:solidFill>
          <a:ln/>
        </p:spPr>
      </p:sp>
      <p:sp>
        <p:nvSpPr>
          <p:cNvPr id="22" name="Text 20"/>
          <p:cNvSpPr/>
          <p:nvPr/>
        </p:nvSpPr>
        <p:spPr>
          <a:xfrm>
            <a:off x="9253728" y="2990088"/>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3" name="Text 21"/>
          <p:cNvSpPr/>
          <p:nvPr/>
        </p:nvSpPr>
        <p:spPr>
          <a:xfrm>
            <a:off x="9235440" y="3840480"/>
            <a:ext cx="2286000" cy="502920"/>
          </a:xfrm>
          <a:prstGeom prst="rect">
            <a:avLst/>
          </a:prstGeom>
          <a:noFill/>
          <a:ln/>
        </p:spPr>
        <p:txBody>
          <a:bodyPr wrap="square" lIns="0" tIns="0" rIns="0" bIns="0" rtlCol="0" anchor="ctr"/>
          <a:lstStyle/>
          <a:p>
            <a:pPr>
              <a:lnSpc>
                <a:spcPct val="110000"/>
              </a:lnSpc>
            </a:pPr>
            <a:r>
              <a:rPr lang="en-IN" sz="1350" b="1" dirty="0">
                <a:solidFill>
                  <a:srgbClr val="1B2B2C"/>
                </a:solidFill>
                <a:latin typeface="Calibri" pitchFamily="34" charset="0"/>
                <a:ea typeface="Calibri" pitchFamily="34" charset="-122"/>
                <a:cs typeface="Calibri" pitchFamily="34" charset="-120"/>
              </a:rPr>
              <a:t>Committed to Sustainability</a:t>
            </a:r>
          </a:p>
          <a:p>
            <a:pPr marL="0" indent="0">
              <a:lnSpc>
                <a:spcPct val="110000"/>
              </a:lnSpc>
              <a:buNone/>
            </a:pPr>
            <a:endParaRPr lang="en-US" sz="1350" dirty="0"/>
          </a:p>
        </p:txBody>
      </p:sp>
      <p:sp>
        <p:nvSpPr>
          <p:cNvPr id="24" name="Text 22"/>
          <p:cNvSpPr/>
          <p:nvPr/>
        </p:nvSpPr>
        <p:spPr>
          <a:xfrm>
            <a:off x="9235440" y="4343400"/>
            <a:ext cx="2286000" cy="1371600"/>
          </a:xfrm>
          <a:prstGeom prst="rect">
            <a:avLst/>
          </a:prstGeom>
          <a:noFill/>
          <a:ln/>
        </p:spPr>
        <p:txBody>
          <a:bodyPr wrap="square" lIns="0" tIns="0" rIns="0" bIns="0" rtlCol="0" anchor="ctr"/>
          <a:lstStyle/>
          <a:p>
            <a:pPr marL="0" indent="0">
              <a:lnSpc>
                <a:spcPct val="125000"/>
              </a:lnSpc>
              <a:buNone/>
            </a:pPr>
            <a:r>
              <a:rPr lang="en-US" sz="1100" dirty="0">
                <a:solidFill>
                  <a:srgbClr val="5C7373"/>
                </a:solidFill>
                <a:latin typeface="Calibri" pitchFamily="34" charset="0"/>
                <a:ea typeface="Calibri" pitchFamily="34" charset="-122"/>
                <a:cs typeface="Calibri" pitchFamily="34" charset="-120"/>
              </a:rPr>
              <a:t>Among the top 15% of biotechnology companies worldwide with strong Environmental, Social and Governance (ESG) practices.</a:t>
            </a:r>
            <a:endParaRPr lang="en-US" sz="1100" dirty="0"/>
          </a:p>
        </p:txBody>
      </p:sp>
      <p:sp>
        <p:nvSpPr>
          <p:cNvPr id="25" name="Text 23"/>
          <p:cNvSpPr/>
          <p:nvPr/>
        </p:nvSpPr>
        <p:spPr>
          <a:xfrm>
            <a:off x="11475720" y="6473952"/>
            <a:ext cx="548640" cy="274320"/>
          </a:xfrm>
          <a:prstGeom prst="rect">
            <a:avLst/>
          </a:prstGeom>
          <a:noFill/>
          <a:ln/>
        </p:spPr>
        <p:txBody>
          <a:bodyPr wrap="square" lIns="0" tIns="0" rIns="0" bIns="0" rtlCol="0" anchor="ctr"/>
          <a:lstStyle/>
          <a:p>
            <a:pPr marL="0" indent="0" algn="r">
              <a:buNone/>
            </a:pPr>
            <a:r>
              <a:rPr lang="en-US" sz="1000" dirty="0">
                <a:solidFill>
                  <a:srgbClr val="5C7373"/>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marL="0" indent="0">
              <a:buNone/>
            </a:pPr>
            <a:r>
              <a:rPr lang="en-US" sz="1200" b="1" kern="0" spc="200" dirty="0">
                <a:solidFill>
                  <a:srgbClr val="028090"/>
                </a:solidFill>
                <a:latin typeface="Calibri" pitchFamily="34" charset="0"/>
                <a:ea typeface="Calibri" pitchFamily="34" charset="-122"/>
                <a:cs typeface="Calibri" pitchFamily="34" charset="-120"/>
              </a:rPr>
              <a:t>APPLICATIONS I</a:t>
            </a:r>
            <a:endParaRPr lang="en-US" sz="1200" dirty="0"/>
          </a:p>
        </p:txBody>
      </p:sp>
      <p:sp>
        <p:nvSpPr>
          <p:cNvPr id="3" name="Text 1"/>
          <p:cNvSpPr/>
          <p:nvPr/>
        </p:nvSpPr>
        <p:spPr>
          <a:xfrm>
            <a:off x="553328" y="777240"/>
            <a:ext cx="10510911" cy="822960"/>
          </a:xfrm>
          <a:prstGeom prst="rect">
            <a:avLst/>
          </a:prstGeom>
          <a:noFill/>
          <a:ln/>
        </p:spPr>
        <p:txBody>
          <a:bodyPr wrap="square" lIns="0" tIns="0" rIns="0" bIns="0" rtlCol="0" anchor="ctr"/>
          <a:lstStyle/>
          <a:p>
            <a:r>
              <a:rPr lang="en-US" sz="3200" b="1" dirty="0">
                <a:solidFill>
                  <a:srgbClr val="1B2B2C"/>
                </a:solidFill>
                <a:latin typeface="Cambria" pitchFamily="34" charset="0"/>
                <a:ea typeface="Cambria" pitchFamily="34" charset="-122"/>
                <a:cs typeface="Cambria" pitchFamily="34" charset="-120"/>
              </a:rPr>
              <a:t>Widening Access to Advanced HealthCare</a:t>
            </a:r>
            <a:endParaRPr lang="en-US" sz="3200" dirty="0"/>
          </a:p>
        </p:txBody>
      </p:sp>
      <p:sp>
        <p:nvSpPr>
          <p:cNvPr id="4" name="Text 2"/>
          <p:cNvSpPr/>
          <p:nvPr/>
        </p:nvSpPr>
        <p:spPr>
          <a:xfrm>
            <a:off x="548640" y="1554480"/>
            <a:ext cx="5943600" cy="1554480"/>
          </a:xfrm>
          <a:prstGeom prst="rect">
            <a:avLst/>
          </a:prstGeom>
          <a:noFill/>
          <a:ln/>
        </p:spPr>
        <p:txBody>
          <a:bodyPr wrap="square" lIns="0" tIns="0" rIns="0" bIns="0" rtlCol="0" anchor="ctr"/>
          <a:lstStyle/>
          <a:p>
            <a:pPr marL="0" indent="0">
              <a:lnSpc>
                <a:spcPct val="125000"/>
              </a:lnSpc>
              <a:buNone/>
            </a:pPr>
            <a:r>
              <a:rPr lang="en-US" sz="1350" dirty="0">
                <a:solidFill>
                  <a:srgbClr val="1B2B2C"/>
                </a:solidFill>
                <a:latin typeface="Calibri" pitchFamily="34" charset="0"/>
                <a:ea typeface="Calibri" pitchFamily="34" charset="-122"/>
                <a:cs typeface="Calibri" pitchFamily="34" charset="-120"/>
              </a:rPr>
              <a:t>Biocon Biologics is the only company globally offering both biosimilar insulins and generic GLP-1 peptides — positioning it to serve patients across the entire diabetes and obesity care pathway, from first-line insulin therapy to next-generation weight-management drugs.</a:t>
            </a:r>
          </a:p>
          <a:p>
            <a:pPr marL="0" indent="0">
              <a:lnSpc>
                <a:spcPct val="125000"/>
              </a:lnSpc>
              <a:buNone/>
            </a:pPr>
            <a:r>
              <a:rPr lang="en-US" sz="1350" b="1" dirty="0">
                <a:solidFill>
                  <a:srgbClr val="44BFB1"/>
                </a:solidFill>
              </a:rPr>
              <a:t>Oncology and Immunology:</a:t>
            </a:r>
          </a:p>
        </p:txBody>
      </p:sp>
      <p:sp>
        <p:nvSpPr>
          <p:cNvPr id="6" name="Text 4"/>
          <p:cNvSpPr/>
          <p:nvPr/>
        </p:nvSpPr>
        <p:spPr>
          <a:xfrm>
            <a:off x="777240" y="3136392"/>
            <a:ext cx="5715000" cy="594360"/>
          </a:xfrm>
          <a:prstGeom prst="rect">
            <a:avLst/>
          </a:prstGeom>
          <a:noFill/>
          <a:ln/>
        </p:spPr>
        <p:txBody>
          <a:bodyPr wrap="square" lIns="0" tIns="0" rIns="0" bIns="0" rtlCol="0" anchor="ctr"/>
          <a:lstStyle/>
          <a:p>
            <a:pPr marL="0" indent="0">
              <a:lnSpc>
                <a:spcPct val="115000"/>
              </a:lnSpc>
              <a:buNone/>
            </a:pPr>
            <a:endParaRPr lang="en-US" sz="1200" dirty="0"/>
          </a:p>
        </p:txBody>
      </p:sp>
      <p:sp>
        <p:nvSpPr>
          <p:cNvPr id="8" name="Text 6"/>
          <p:cNvSpPr/>
          <p:nvPr/>
        </p:nvSpPr>
        <p:spPr>
          <a:xfrm>
            <a:off x="777240" y="3794760"/>
            <a:ext cx="5715000" cy="594360"/>
          </a:xfrm>
          <a:prstGeom prst="rect">
            <a:avLst/>
          </a:prstGeom>
          <a:noFill/>
          <a:ln/>
        </p:spPr>
        <p:txBody>
          <a:bodyPr wrap="square" lIns="0" tIns="0" rIns="0" bIns="0" rtlCol="0" anchor="ctr"/>
          <a:lstStyle/>
          <a:p>
            <a:pPr marL="0" indent="0">
              <a:lnSpc>
                <a:spcPct val="115000"/>
              </a:lnSpc>
              <a:buNone/>
            </a:pPr>
            <a:endParaRPr lang="en-US" sz="1200" dirty="0"/>
          </a:p>
        </p:txBody>
      </p:sp>
      <p:sp>
        <p:nvSpPr>
          <p:cNvPr id="10" name="Text 8"/>
          <p:cNvSpPr/>
          <p:nvPr/>
        </p:nvSpPr>
        <p:spPr>
          <a:xfrm>
            <a:off x="777240" y="4453128"/>
            <a:ext cx="5715000" cy="594360"/>
          </a:xfrm>
          <a:prstGeom prst="rect">
            <a:avLst/>
          </a:prstGeom>
          <a:noFill/>
          <a:ln/>
        </p:spPr>
        <p:txBody>
          <a:bodyPr wrap="square" lIns="0" tIns="0" rIns="0" bIns="0" rtlCol="0" anchor="ctr"/>
          <a:lstStyle/>
          <a:p>
            <a:pPr marL="0" indent="0">
              <a:lnSpc>
                <a:spcPct val="115000"/>
              </a:lnSpc>
              <a:buNone/>
            </a:pPr>
            <a:endParaRPr lang="en-US" sz="1200" dirty="0"/>
          </a:p>
        </p:txBody>
      </p:sp>
      <p:sp>
        <p:nvSpPr>
          <p:cNvPr id="11" name="Shape 9"/>
          <p:cNvSpPr/>
          <p:nvPr/>
        </p:nvSpPr>
        <p:spPr>
          <a:xfrm>
            <a:off x="548640" y="5560189"/>
            <a:ext cx="71120" cy="74801"/>
          </a:xfrm>
          <a:prstGeom prst="ellipse">
            <a:avLst/>
          </a:prstGeom>
          <a:solidFill>
            <a:srgbClr val="028090"/>
          </a:solidFill>
          <a:ln/>
        </p:spPr>
      </p:sp>
      <p:sp>
        <p:nvSpPr>
          <p:cNvPr id="12" name="Text 10"/>
          <p:cNvSpPr/>
          <p:nvPr/>
        </p:nvSpPr>
        <p:spPr>
          <a:xfrm>
            <a:off x="777240" y="5111496"/>
            <a:ext cx="5715000" cy="594360"/>
          </a:xfrm>
          <a:prstGeom prst="rect">
            <a:avLst/>
          </a:prstGeom>
          <a:noFill/>
          <a:ln/>
        </p:spPr>
        <p:txBody>
          <a:bodyPr wrap="square" lIns="0" tIns="0" rIns="0" bIns="0" rtlCol="0" anchor="ctr"/>
          <a:lstStyle/>
          <a:p>
            <a:pPr marL="0" indent="0">
              <a:lnSpc>
                <a:spcPct val="115000"/>
              </a:lnSpc>
              <a:buNone/>
            </a:pPr>
            <a:endParaRPr lang="en-US" sz="1200" dirty="0"/>
          </a:p>
        </p:txBody>
      </p:sp>
      <p:sp>
        <p:nvSpPr>
          <p:cNvPr id="14" name="Text 12"/>
          <p:cNvSpPr/>
          <p:nvPr/>
        </p:nvSpPr>
        <p:spPr>
          <a:xfrm>
            <a:off x="7223760" y="1783080"/>
            <a:ext cx="4114800" cy="320040"/>
          </a:xfrm>
          <a:prstGeom prst="rect">
            <a:avLst/>
          </a:prstGeom>
          <a:noFill/>
          <a:ln/>
        </p:spPr>
        <p:txBody>
          <a:bodyPr wrap="square" lIns="0" tIns="0" rIns="0" bIns="0" rtlCol="0" anchor="ctr"/>
          <a:lstStyle/>
          <a:p>
            <a:pPr marL="0" indent="0">
              <a:buNone/>
            </a:pPr>
            <a:endParaRPr lang="en-US" sz="1200" dirty="0"/>
          </a:p>
        </p:txBody>
      </p:sp>
      <p:sp>
        <p:nvSpPr>
          <p:cNvPr id="15" name="Text 13"/>
          <p:cNvSpPr/>
          <p:nvPr/>
        </p:nvSpPr>
        <p:spPr>
          <a:xfrm>
            <a:off x="7223760" y="2148840"/>
            <a:ext cx="4114800" cy="640080"/>
          </a:xfrm>
          <a:prstGeom prst="rect">
            <a:avLst/>
          </a:prstGeom>
          <a:noFill/>
          <a:ln/>
        </p:spPr>
        <p:txBody>
          <a:bodyPr wrap="square" lIns="0" tIns="0" rIns="0" bIns="0" rtlCol="0" anchor="ctr"/>
          <a:lstStyle/>
          <a:p>
            <a:pPr marL="0" indent="0">
              <a:buNone/>
            </a:pPr>
            <a:endParaRPr lang="en-US" sz="4000" dirty="0"/>
          </a:p>
        </p:txBody>
      </p:sp>
      <p:sp>
        <p:nvSpPr>
          <p:cNvPr id="16" name="Text 14"/>
          <p:cNvSpPr/>
          <p:nvPr/>
        </p:nvSpPr>
        <p:spPr>
          <a:xfrm>
            <a:off x="7223760" y="2788920"/>
            <a:ext cx="4114800" cy="1097280"/>
          </a:xfrm>
          <a:prstGeom prst="rect">
            <a:avLst/>
          </a:prstGeom>
          <a:noFill/>
          <a:ln/>
        </p:spPr>
        <p:txBody>
          <a:bodyPr wrap="square" lIns="0" tIns="0" rIns="0" bIns="0" rtlCol="0" anchor="ctr"/>
          <a:lstStyle/>
          <a:p>
            <a:pPr marL="0" indent="0">
              <a:lnSpc>
                <a:spcPct val="125000"/>
              </a:lnSpc>
              <a:buNone/>
            </a:pPr>
            <a:endParaRPr lang="en-US" sz="1200" dirty="0"/>
          </a:p>
        </p:txBody>
      </p:sp>
      <p:sp>
        <p:nvSpPr>
          <p:cNvPr id="18" name="Text 16"/>
          <p:cNvSpPr/>
          <p:nvPr/>
        </p:nvSpPr>
        <p:spPr>
          <a:xfrm>
            <a:off x="7223760" y="4206240"/>
            <a:ext cx="4114800" cy="1280160"/>
          </a:xfrm>
          <a:prstGeom prst="rect">
            <a:avLst/>
          </a:prstGeom>
          <a:noFill/>
          <a:ln/>
        </p:spPr>
        <p:txBody>
          <a:bodyPr wrap="square" lIns="0" tIns="0" rIns="0" bIns="0" rtlCol="0" anchor="ctr"/>
          <a:lstStyle/>
          <a:p>
            <a:pPr marL="0" indent="0">
              <a:lnSpc>
                <a:spcPct val="125000"/>
              </a:lnSpc>
              <a:buNone/>
            </a:pPr>
            <a:endParaRPr lang="en-US" sz="1200" dirty="0"/>
          </a:p>
        </p:txBody>
      </p:sp>
      <p:sp>
        <p:nvSpPr>
          <p:cNvPr id="19" name="Text 17"/>
          <p:cNvSpPr/>
          <p:nvPr/>
        </p:nvSpPr>
        <p:spPr>
          <a:xfrm>
            <a:off x="11475720" y="6473952"/>
            <a:ext cx="548640" cy="274320"/>
          </a:xfrm>
          <a:prstGeom prst="rect">
            <a:avLst/>
          </a:prstGeom>
          <a:noFill/>
          <a:ln/>
        </p:spPr>
        <p:txBody>
          <a:bodyPr wrap="square" lIns="0" tIns="0" rIns="0" bIns="0" rtlCol="0" anchor="ctr"/>
          <a:lstStyle/>
          <a:p>
            <a:pPr marL="0" indent="0" algn="r">
              <a:buNone/>
            </a:pPr>
            <a:r>
              <a:rPr lang="en-US" sz="1000" dirty="0">
                <a:solidFill>
                  <a:srgbClr val="5C7373"/>
                </a:solidFill>
                <a:latin typeface="Calibri" pitchFamily="34" charset="0"/>
                <a:ea typeface="Calibri" pitchFamily="34" charset="-122"/>
                <a:cs typeface="Calibri" pitchFamily="34" charset="-120"/>
              </a:rPr>
              <a:t>05</a:t>
            </a:r>
            <a:endParaRPr lang="en-US" sz="1000" dirty="0"/>
          </a:p>
        </p:txBody>
      </p:sp>
      <p:pic>
        <p:nvPicPr>
          <p:cNvPr id="23" name="Picture 22">
            <a:extLst>
              <a:ext uri="{FF2B5EF4-FFF2-40B4-BE49-F238E27FC236}">
                <a16:creationId xmlns:a16="http://schemas.microsoft.com/office/drawing/2014/main" id="{26CCB076-D9D8-47F2-77D9-4033114E0B0B}"/>
              </a:ext>
            </a:extLst>
          </p:cNvPr>
          <p:cNvPicPr>
            <a:picLocks noChangeAspect="1"/>
          </p:cNvPicPr>
          <p:nvPr/>
        </p:nvPicPr>
        <p:blipFill>
          <a:blip r:embed="rId3"/>
          <a:stretch>
            <a:fillRect/>
          </a:stretch>
        </p:blipFill>
        <p:spPr>
          <a:xfrm>
            <a:off x="6736080" y="2049778"/>
            <a:ext cx="4912360" cy="4424174"/>
          </a:xfrm>
          <a:prstGeom prst="rect">
            <a:avLst/>
          </a:prstGeom>
        </p:spPr>
      </p:pic>
      <p:pic>
        <p:nvPicPr>
          <p:cNvPr id="25" name="Picture 24">
            <a:extLst>
              <a:ext uri="{FF2B5EF4-FFF2-40B4-BE49-F238E27FC236}">
                <a16:creationId xmlns:a16="http://schemas.microsoft.com/office/drawing/2014/main" id="{52E09FF3-4657-6A13-DA98-343D8E2917A5}"/>
              </a:ext>
            </a:extLst>
          </p:cNvPr>
          <p:cNvPicPr>
            <a:picLocks noChangeAspect="1"/>
          </p:cNvPicPr>
          <p:nvPr/>
        </p:nvPicPr>
        <p:blipFill>
          <a:blip r:embed="rId4"/>
          <a:stretch>
            <a:fillRect/>
          </a:stretch>
        </p:blipFill>
        <p:spPr>
          <a:xfrm>
            <a:off x="853440" y="3045227"/>
            <a:ext cx="5029200" cy="3565107"/>
          </a:xfrm>
          <a:prstGeom prst="rect">
            <a:avLst/>
          </a:prstGeom>
        </p:spPr>
      </p:pic>
      <p:sp>
        <p:nvSpPr>
          <p:cNvPr id="27" name="Shape 9">
            <a:extLst>
              <a:ext uri="{FF2B5EF4-FFF2-40B4-BE49-F238E27FC236}">
                <a16:creationId xmlns:a16="http://schemas.microsoft.com/office/drawing/2014/main" id="{77DBCC87-EEEE-E0DF-E69C-3D383183E639}"/>
              </a:ext>
            </a:extLst>
          </p:cNvPr>
          <p:cNvSpPr/>
          <p:nvPr/>
        </p:nvSpPr>
        <p:spPr>
          <a:xfrm>
            <a:off x="553329" y="4396933"/>
            <a:ext cx="71120" cy="74801"/>
          </a:xfrm>
          <a:prstGeom prst="ellipse">
            <a:avLst/>
          </a:prstGeom>
          <a:solidFill>
            <a:srgbClr val="028090"/>
          </a:solidFill>
          <a:ln/>
        </p:spPr>
      </p:sp>
      <p:sp>
        <p:nvSpPr>
          <p:cNvPr id="29" name="Shape 9">
            <a:extLst>
              <a:ext uri="{FF2B5EF4-FFF2-40B4-BE49-F238E27FC236}">
                <a16:creationId xmlns:a16="http://schemas.microsoft.com/office/drawing/2014/main" id="{60588709-58F8-0302-7887-A9DF2BA5DE7C}"/>
              </a:ext>
            </a:extLst>
          </p:cNvPr>
          <p:cNvSpPr/>
          <p:nvPr/>
        </p:nvSpPr>
        <p:spPr>
          <a:xfrm>
            <a:off x="543560" y="3254495"/>
            <a:ext cx="71120" cy="74801"/>
          </a:xfrm>
          <a:prstGeom prst="ellipse">
            <a:avLst/>
          </a:prstGeom>
          <a:solidFill>
            <a:srgbClr val="028090"/>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marL="0" indent="0">
              <a:buNone/>
            </a:pPr>
            <a:r>
              <a:rPr lang="en-US" sz="1200" b="1" kern="0" spc="200" dirty="0">
                <a:solidFill>
                  <a:srgbClr val="028090"/>
                </a:solidFill>
                <a:latin typeface="Calibri" pitchFamily="34" charset="0"/>
                <a:ea typeface="Calibri" pitchFamily="34" charset="-122"/>
                <a:cs typeface="Calibri" pitchFamily="34" charset="-120"/>
              </a:rPr>
              <a:t>MARKET IMPACT </a:t>
            </a:r>
            <a:endParaRPr lang="en-US" sz="1200" dirty="0"/>
          </a:p>
        </p:txBody>
      </p:sp>
      <p:sp>
        <p:nvSpPr>
          <p:cNvPr id="3" name="Text 1"/>
          <p:cNvSpPr/>
          <p:nvPr/>
        </p:nvSpPr>
        <p:spPr>
          <a:xfrm>
            <a:off x="548640" y="777240"/>
            <a:ext cx="10515600" cy="914400"/>
          </a:xfrm>
          <a:prstGeom prst="rect">
            <a:avLst/>
          </a:prstGeom>
          <a:noFill/>
          <a:ln/>
        </p:spPr>
        <p:txBody>
          <a:bodyPr wrap="square" lIns="0" tIns="0" rIns="0" bIns="0" rtlCol="0" anchor="ctr"/>
          <a:lstStyle/>
          <a:p>
            <a:pPr marL="0" indent="0">
              <a:buNone/>
            </a:pPr>
            <a:r>
              <a:rPr lang="en-US" sz="3200" b="1" dirty="0">
                <a:solidFill>
                  <a:srgbClr val="1E2622"/>
                </a:solidFill>
                <a:latin typeface="Cambria" pitchFamily="34" charset="0"/>
                <a:ea typeface="Cambria" pitchFamily="34" charset="-122"/>
                <a:cs typeface="Cambria" pitchFamily="34" charset="-120"/>
              </a:rPr>
              <a:t>A Global Player with Complex Sustainability Footprint</a:t>
            </a:r>
            <a:endParaRPr lang="en-US" sz="3200" dirty="0"/>
          </a:p>
        </p:txBody>
      </p:sp>
      <p:sp>
        <p:nvSpPr>
          <p:cNvPr id="4" name="Text 2"/>
          <p:cNvSpPr/>
          <p:nvPr/>
        </p:nvSpPr>
        <p:spPr>
          <a:xfrm>
            <a:off x="548640" y="1600200"/>
            <a:ext cx="10881360" cy="1143000"/>
          </a:xfrm>
          <a:prstGeom prst="rect">
            <a:avLst/>
          </a:prstGeom>
          <a:noFill/>
          <a:ln/>
        </p:spPr>
        <p:txBody>
          <a:bodyPr wrap="square" lIns="0" tIns="0" rIns="0" bIns="0" rtlCol="0" anchor="ctr"/>
          <a:lstStyle/>
          <a:p>
            <a:pPr marL="0" indent="0">
              <a:lnSpc>
                <a:spcPct val="130000"/>
              </a:lnSpc>
              <a:buNone/>
            </a:pPr>
            <a:r>
              <a:rPr lang="en-US" sz="1350" dirty="0">
                <a:solidFill>
                  <a:srgbClr val="1E2622"/>
                </a:solidFill>
                <a:latin typeface="Calibri" pitchFamily="34" charset="0"/>
                <a:ea typeface="Calibri" pitchFamily="34" charset="-122"/>
                <a:cs typeface="Calibri" pitchFamily="34" charset="-120"/>
              </a:rPr>
              <a:t>Biocon's rapid expansion—particularly the 2022 USD 3.3B acquisition of Viatris' biosimilars business—has created a large, geographically dispersed operation with significant manufacturing, supply-chain and resource demands. The company now operates 12 commercialized biosimilars across 120+ countries, serving 6.5M+ patients annually, while managing intense pressure to reduce costs and maintain profitability.</a:t>
            </a:r>
            <a:endParaRPr lang="en-US" sz="1350" dirty="0"/>
          </a:p>
        </p:txBody>
      </p:sp>
      <p:sp>
        <p:nvSpPr>
          <p:cNvPr id="5" name="Shape 3"/>
          <p:cNvSpPr/>
          <p:nvPr/>
        </p:nvSpPr>
        <p:spPr>
          <a:xfrm>
            <a:off x="548640" y="3017520"/>
            <a:ext cx="2606040" cy="2606040"/>
          </a:xfrm>
          <a:prstGeom prst="roundRect">
            <a:avLst>
              <a:gd name="adj" fmla="val 2807"/>
            </a:avLst>
          </a:prstGeom>
          <a:solidFill>
            <a:srgbClr val="F0F7F6"/>
          </a:solidFill>
          <a:ln w="12700">
            <a:solidFill>
              <a:srgbClr val="D4E4E0"/>
            </a:solidFill>
            <a:prstDash val="solid"/>
          </a:ln>
        </p:spPr>
      </p:sp>
      <p:sp>
        <p:nvSpPr>
          <p:cNvPr id="6" name="Text 4"/>
          <p:cNvSpPr/>
          <p:nvPr/>
        </p:nvSpPr>
        <p:spPr>
          <a:xfrm>
            <a:off x="713232" y="3200400"/>
            <a:ext cx="2276856" cy="457200"/>
          </a:xfrm>
          <a:prstGeom prst="rect">
            <a:avLst/>
          </a:prstGeom>
          <a:noFill/>
          <a:ln/>
        </p:spPr>
        <p:txBody>
          <a:bodyPr wrap="square" lIns="0" tIns="0" rIns="0" bIns="0" rtlCol="0" anchor="ctr"/>
          <a:lstStyle/>
          <a:p>
            <a:pPr marL="0" indent="0">
              <a:buNone/>
            </a:pPr>
            <a:r>
              <a:rPr lang="en-US" sz="1300" b="1" dirty="0">
                <a:solidFill>
                  <a:srgbClr val="028090"/>
                </a:solidFill>
                <a:latin typeface="Calibri" pitchFamily="34" charset="0"/>
                <a:ea typeface="Calibri" pitchFamily="34" charset="-122"/>
                <a:cs typeface="Calibri" pitchFamily="34" charset="-120"/>
              </a:rPr>
              <a:t>FY26 Revenue</a:t>
            </a:r>
            <a:endParaRPr lang="en-US" sz="1300" dirty="0"/>
          </a:p>
        </p:txBody>
      </p:sp>
      <p:sp>
        <p:nvSpPr>
          <p:cNvPr id="7" name="Text 5"/>
          <p:cNvSpPr/>
          <p:nvPr/>
        </p:nvSpPr>
        <p:spPr>
          <a:xfrm>
            <a:off x="713232" y="3703320"/>
            <a:ext cx="2276856" cy="548640"/>
          </a:xfrm>
          <a:prstGeom prst="rect">
            <a:avLst/>
          </a:prstGeom>
          <a:noFill/>
          <a:ln/>
        </p:spPr>
        <p:txBody>
          <a:bodyPr wrap="square" lIns="0" tIns="0" rIns="0" bIns="0" rtlCol="0" anchor="ctr"/>
          <a:lstStyle/>
          <a:p>
            <a:pPr marL="0" indent="0">
              <a:buNone/>
            </a:pPr>
            <a:r>
              <a:rPr lang="en-US" sz="2200" b="1" dirty="0">
                <a:solidFill>
                  <a:srgbClr val="1E2622"/>
                </a:solidFill>
                <a:latin typeface="Cambria" pitchFamily="34" charset="0"/>
                <a:ea typeface="Cambria" pitchFamily="34" charset="-122"/>
                <a:cs typeface="Cambria" pitchFamily="34" charset="-120"/>
              </a:rPr>
              <a:t>~₹17,600 Cr</a:t>
            </a:r>
            <a:endParaRPr lang="en-US" sz="2200" dirty="0"/>
          </a:p>
        </p:txBody>
      </p:sp>
      <p:sp>
        <p:nvSpPr>
          <p:cNvPr id="8" name="Text 6"/>
          <p:cNvSpPr/>
          <p:nvPr/>
        </p:nvSpPr>
        <p:spPr>
          <a:xfrm>
            <a:off x="713232" y="4297680"/>
            <a:ext cx="2276856" cy="868680"/>
          </a:xfrm>
          <a:prstGeom prst="rect">
            <a:avLst/>
          </a:prstGeom>
          <a:noFill/>
          <a:ln/>
        </p:spPr>
        <p:txBody>
          <a:bodyPr wrap="square" lIns="0" tIns="0" rIns="0" bIns="0" rtlCol="0" anchor="ctr"/>
          <a:lstStyle/>
          <a:p>
            <a:pPr marL="0" indent="0">
              <a:lnSpc>
                <a:spcPct val="120000"/>
              </a:lnSpc>
              <a:buNone/>
            </a:pPr>
            <a:r>
              <a:rPr lang="en-US" sz="1100" dirty="0">
                <a:solidFill>
                  <a:srgbClr val="6B7B79"/>
                </a:solidFill>
                <a:latin typeface="Calibri" pitchFamily="34" charset="0"/>
                <a:ea typeface="Calibri" pitchFamily="34" charset="-122"/>
                <a:cs typeface="Calibri" pitchFamily="34" charset="-120"/>
              </a:rPr>
              <a:t>60% from biosimilars</a:t>
            </a:r>
            <a:endParaRPr lang="en-US" sz="1100" dirty="0"/>
          </a:p>
        </p:txBody>
      </p:sp>
      <p:sp>
        <p:nvSpPr>
          <p:cNvPr id="9" name="Shape 7"/>
          <p:cNvSpPr/>
          <p:nvPr/>
        </p:nvSpPr>
        <p:spPr>
          <a:xfrm>
            <a:off x="3383280" y="3017520"/>
            <a:ext cx="2606040" cy="2606040"/>
          </a:xfrm>
          <a:prstGeom prst="roundRect">
            <a:avLst>
              <a:gd name="adj" fmla="val 2807"/>
            </a:avLst>
          </a:prstGeom>
          <a:solidFill>
            <a:srgbClr val="F0F7F6"/>
          </a:solidFill>
          <a:ln w="12700">
            <a:solidFill>
              <a:srgbClr val="D4E4E0"/>
            </a:solidFill>
            <a:prstDash val="solid"/>
          </a:ln>
        </p:spPr>
      </p:sp>
      <p:sp>
        <p:nvSpPr>
          <p:cNvPr id="10" name="Text 8"/>
          <p:cNvSpPr/>
          <p:nvPr/>
        </p:nvSpPr>
        <p:spPr>
          <a:xfrm>
            <a:off x="3547872" y="3200400"/>
            <a:ext cx="2276856" cy="457200"/>
          </a:xfrm>
          <a:prstGeom prst="rect">
            <a:avLst/>
          </a:prstGeom>
          <a:noFill/>
          <a:ln/>
        </p:spPr>
        <p:txBody>
          <a:bodyPr wrap="square" lIns="0" tIns="0" rIns="0" bIns="0" rtlCol="0" anchor="ctr"/>
          <a:lstStyle/>
          <a:p>
            <a:pPr marL="0" indent="0">
              <a:buNone/>
            </a:pPr>
            <a:r>
              <a:rPr lang="en-US" sz="1300" b="1" dirty="0">
                <a:solidFill>
                  <a:srgbClr val="028090"/>
                </a:solidFill>
                <a:latin typeface="Calibri" pitchFamily="34" charset="0"/>
                <a:ea typeface="Calibri" pitchFamily="34" charset="-122"/>
                <a:cs typeface="Calibri" pitchFamily="34" charset="-120"/>
              </a:rPr>
              <a:t>Long-term Debt</a:t>
            </a:r>
            <a:endParaRPr lang="en-US" sz="1300" dirty="0"/>
          </a:p>
        </p:txBody>
      </p:sp>
      <p:sp>
        <p:nvSpPr>
          <p:cNvPr id="11" name="Text 9"/>
          <p:cNvSpPr/>
          <p:nvPr/>
        </p:nvSpPr>
        <p:spPr>
          <a:xfrm>
            <a:off x="3547872" y="3703320"/>
            <a:ext cx="2276856" cy="548640"/>
          </a:xfrm>
          <a:prstGeom prst="rect">
            <a:avLst/>
          </a:prstGeom>
          <a:noFill/>
          <a:ln/>
        </p:spPr>
        <p:txBody>
          <a:bodyPr wrap="square" lIns="0" tIns="0" rIns="0" bIns="0" rtlCol="0" anchor="ctr"/>
          <a:lstStyle/>
          <a:p>
            <a:pPr marL="0" indent="0">
              <a:buNone/>
            </a:pPr>
            <a:r>
              <a:rPr lang="en-US" sz="2200" b="1" dirty="0">
                <a:solidFill>
                  <a:srgbClr val="1E2622"/>
                </a:solidFill>
                <a:latin typeface="Cambria" pitchFamily="34" charset="0"/>
                <a:ea typeface="Cambria" pitchFamily="34" charset="-122"/>
                <a:cs typeface="Cambria" pitchFamily="34" charset="-120"/>
              </a:rPr>
              <a:t>₹14,300+ Cr</a:t>
            </a:r>
            <a:endParaRPr lang="en-US" sz="2200" dirty="0"/>
          </a:p>
        </p:txBody>
      </p:sp>
      <p:sp>
        <p:nvSpPr>
          <p:cNvPr id="12" name="Text 10"/>
          <p:cNvSpPr/>
          <p:nvPr/>
        </p:nvSpPr>
        <p:spPr>
          <a:xfrm>
            <a:off x="3547872" y="4297680"/>
            <a:ext cx="2276856" cy="868680"/>
          </a:xfrm>
          <a:prstGeom prst="rect">
            <a:avLst/>
          </a:prstGeom>
          <a:noFill/>
          <a:ln/>
        </p:spPr>
        <p:txBody>
          <a:bodyPr wrap="square" lIns="0" tIns="0" rIns="0" bIns="0" rtlCol="0" anchor="ctr"/>
          <a:lstStyle/>
          <a:p>
            <a:pPr marL="0" indent="0">
              <a:lnSpc>
                <a:spcPct val="120000"/>
              </a:lnSpc>
              <a:buNone/>
            </a:pPr>
            <a:r>
              <a:rPr lang="en-US" sz="1100" dirty="0">
                <a:solidFill>
                  <a:srgbClr val="6B7B79"/>
                </a:solidFill>
                <a:latin typeface="Calibri" pitchFamily="34" charset="0"/>
                <a:ea typeface="Calibri" pitchFamily="34" charset="-122"/>
                <a:cs typeface="Calibri" pitchFamily="34" charset="-120"/>
              </a:rPr>
              <a:t>from Viatris acquisition</a:t>
            </a:r>
            <a:endParaRPr lang="en-US" sz="1100" dirty="0"/>
          </a:p>
        </p:txBody>
      </p:sp>
      <p:sp>
        <p:nvSpPr>
          <p:cNvPr id="13" name="Shape 11"/>
          <p:cNvSpPr/>
          <p:nvPr/>
        </p:nvSpPr>
        <p:spPr>
          <a:xfrm>
            <a:off x="6217920" y="3017520"/>
            <a:ext cx="2606040" cy="2606040"/>
          </a:xfrm>
          <a:prstGeom prst="roundRect">
            <a:avLst>
              <a:gd name="adj" fmla="val 2807"/>
            </a:avLst>
          </a:prstGeom>
          <a:solidFill>
            <a:srgbClr val="F0F7F6"/>
          </a:solidFill>
          <a:ln w="12700">
            <a:solidFill>
              <a:srgbClr val="D4E4E0"/>
            </a:solidFill>
            <a:prstDash val="solid"/>
          </a:ln>
        </p:spPr>
      </p:sp>
      <p:sp>
        <p:nvSpPr>
          <p:cNvPr id="14" name="Text 12"/>
          <p:cNvSpPr/>
          <p:nvPr/>
        </p:nvSpPr>
        <p:spPr>
          <a:xfrm>
            <a:off x="6382512" y="3200400"/>
            <a:ext cx="2276856" cy="457200"/>
          </a:xfrm>
          <a:prstGeom prst="rect">
            <a:avLst/>
          </a:prstGeom>
          <a:noFill/>
          <a:ln/>
        </p:spPr>
        <p:txBody>
          <a:bodyPr wrap="square" lIns="0" tIns="0" rIns="0" bIns="0" rtlCol="0" anchor="ctr"/>
          <a:lstStyle/>
          <a:p>
            <a:pPr marL="0" indent="0">
              <a:buNone/>
            </a:pPr>
            <a:r>
              <a:rPr lang="en-US" sz="1300" b="1" dirty="0">
                <a:solidFill>
                  <a:srgbClr val="028090"/>
                </a:solidFill>
                <a:latin typeface="Calibri" pitchFamily="34" charset="0"/>
                <a:ea typeface="Calibri" pitchFamily="34" charset="-122"/>
                <a:cs typeface="Calibri" pitchFamily="34" charset="-120"/>
              </a:rPr>
              <a:t>Operating Presence</a:t>
            </a:r>
            <a:endParaRPr lang="en-US" sz="1300" dirty="0"/>
          </a:p>
        </p:txBody>
      </p:sp>
      <p:sp>
        <p:nvSpPr>
          <p:cNvPr id="15" name="Text 13"/>
          <p:cNvSpPr/>
          <p:nvPr/>
        </p:nvSpPr>
        <p:spPr>
          <a:xfrm>
            <a:off x="6382512" y="3703320"/>
            <a:ext cx="2276856" cy="548640"/>
          </a:xfrm>
          <a:prstGeom prst="rect">
            <a:avLst/>
          </a:prstGeom>
          <a:noFill/>
          <a:ln/>
        </p:spPr>
        <p:txBody>
          <a:bodyPr wrap="square" lIns="0" tIns="0" rIns="0" bIns="0" rtlCol="0" anchor="ctr"/>
          <a:lstStyle/>
          <a:p>
            <a:pPr marL="0" indent="0">
              <a:buNone/>
            </a:pPr>
            <a:r>
              <a:rPr lang="en-US" sz="2200" b="1" dirty="0">
                <a:solidFill>
                  <a:srgbClr val="1E2622"/>
                </a:solidFill>
                <a:latin typeface="Cambria" pitchFamily="34" charset="0"/>
                <a:ea typeface="Cambria" pitchFamily="34" charset="-122"/>
                <a:cs typeface="Cambria" pitchFamily="34" charset="-120"/>
              </a:rPr>
              <a:t>India, Malaysia, US, EU</a:t>
            </a:r>
            <a:endParaRPr lang="en-US" sz="2200" dirty="0"/>
          </a:p>
        </p:txBody>
      </p:sp>
      <p:sp>
        <p:nvSpPr>
          <p:cNvPr id="16" name="Text 14"/>
          <p:cNvSpPr/>
          <p:nvPr/>
        </p:nvSpPr>
        <p:spPr>
          <a:xfrm>
            <a:off x="6382512" y="4297680"/>
            <a:ext cx="2276856" cy="868680"/>
          </a:xfrm>
          <a:prstGeom prst="rect">
            <a:avLst/>
          </a:prstGeom>
          <a:noFill/>
          <a:ln/>
        </p:spPr>
        <p:txBody>
          <a:bodyPr wrap="square" lIns="0" tIns="0" rIns="0" bIns="0" rtlCol="0" anchor="ctr"/>
          <a:lstStyle/>
          <a:p>
            <a:pPr marL="0" indent="0">
              <a:lnSpc>
                <a:spcPct val="120000"/>
              </a:lnSpc>
              <a:buNone/>
            </a:pPr>
            <a:r>
              <a:rPr lang="en-US" sz="1100" dirty="0">
                <a:solidFill>
                  <a:srgbClr val="6B7B79"/>
                </a:solidFill>
                <a:latin typeface="Calibri" pitchFamily="34" charset="0"/>
                <a:ea typeface="Calibri" pitchFamily="34" charset="-122"/>
                <a:cs typeface="Calibri" pitchFamily="34" charset="-120"/>
              </a:rPr>
              <a:t>Plus 120+ market footprint</a:t>
            </a:r>
            <a:endParaRPr lang="en-US" sz="1100" dirty="0"/>
          </a:p>
        </p:txBody>
      </p:sp>
      <p:sp>
        <p:nvSpPr>
          <p:cNvPr id="17" name="Shape 15"/>
          <p:cNvSpPr/>
          <p:nvPr/>
        </p:nvSpPr>
        <p:spPr>
          <a:xfrm>
            <a:off x="9052560" y="3017520"/>
            <a:ext cx="2606040" cy="2606040"/>
          </a:xfrm>
          <a:prstGeom prst="roundRect">
            <a:avLst>
              <a:gd name="adj" fmla="val 2807"/>
            </a:avLst>
          </a:prstGeom>
          <a:solidFill>
            <a:srgbClr val="F0F7F6"/>
          </a:solidFill>
          <a:ln w="12700">
            <a:solidFill>
              <a:srgbClr val="D4E4E0"/>
            </a:solidFill>
            <a:prstDash val="solid"/>
          </a:ln>
        </p:spPr>
      </p:sp>
      <p:sp>
        <p:nvSpPr>
          <p:cNvPr id="18" name="Text 16"/>
          <p:cNvSpPr/>
          <p:nvPr/>
        </p:nvSpPr>
        <p:spPr>
          <a:xfrm>
            <a:off x="9217152" y="3200400"/>
            <a:ext cx="2276856" cy="457200"/>
          </a:xfrm>
          <a:prstGeom prst="rect">
            <a:avLst/>
          </a:prstGeom>
          <a:noFill/>
          <a:ln/>
        </p:spPr>
        <p:txBody>
          <a:bodyPr wrap="square" lIns="0" tIns="0" rIns="0" bIns="0" rtlCol="0" anchor="ctr"/>
          <a:lstStyle/>
          <a:p>
            <a:pPr marL="0" indent="0">
              <a:buNone/>
            </a:pPr>
            <a:r>
              <a:rPr lang="en-US" sz="1300" b="1" dirty="0">
                <a:solidFill>
                  <a:srgbClr val="028090"/>
                </a:solidFill>
                <a:latin typeface="Calibri" pitchFamily="34" charset="0"/>
                <a:ea typeface="Calibri" pitchFamily="34" charset="-122"/>
                <a:cs typeface="Calibri" pitchFamily="34" charset="-120"/>
              </a:rPr>
              <a:t>Workforce</a:t>
            </a:r>
            <a:endParaRPr lang="en-US" sz="1300" dirty="0"/>
          </a:p>
        </p:txBody>
      </p:sp>
      <p:sp>
        <p:nvSpPr>
          <p:cNvPr id="19" name="Text 17"/>
          <p:cNvSpPr/>
          <p:nvPr/>
        </p:nvSpPr>
        <p:spPr>
          <a:xfrm>
            <a:off x="9217152" y="3703320"/>
            <a:ext cx="2276856" cy="548640"/>
          </a:xfrm>
          <a:prstGeom prst="rect">
            <a:avLst/>
          </a:prstGeom>
          <a:noFill/>
          <a:ln/>
        </p:spPr>
        <p:txBody>
          <a:bodyPr wrap="square" lIns="0" tIns="0" rIns="0" bIns="0" rtlCol="0" anchor="ctr"/>
          <a:lstStyle/>
          <a:p>
            <a:pPr marL="0" indent="0">
              <a:buNone/>
            </a:pPr>
            <a:r>
              <a:rPr lang="en-US" sz="2200" b="1" dirty="0">
                <a:solidFill>
                  <a:srgbClr val="1E2622"/>
                </a:solidFill>
                <a:latin typeface="Cambria" pitchFamily="34" charset="0"/>
                <a:ea typeface="Cambria" pitchFamily="34" charset="-122"/>
                <a:cs typeface="Cambria" pitchFamily="34" charset="-120"/>
              </a:rPr>
              <a:t>~12,000+</a:t>
            </a:r>
            <a:endParaRPr lang="en-US" sz="2200" dirty="0"/>
          </a:p>
        </p:txBody>
      </p:sp>
      <p:sp>
        <p:nvSpPr>
          <p:cNvPr id="20" name="Text 18"/>
          <p:cNvSpPr/>
          <p:nvPr/>
        </p:nvSpPr>
        <p:spPr>
          <a:xfrm>
            <a:off x="9217152" y="4297680"/>
            <a:ext cx="2276856" cy="868680"/>
          </a:xfrm>
          <a:prstGeom prst="rect">
            <a:avLst/>
          </a:prstGeom>
          <a:noFill/>
          <a:ln/>
        </p:spPr>
        <p:txBody>
          <a:bodyPr wrap="square" lIns="0" tIns="0" rIns="0" bIns="0" rtlCol="0" anchor="ctr"/>
          <a:lstStyle/>
          <a:p>
            <a:pPr marL="0" indent="0">
              <a:lnSpc>
                <a:spcPct val="120000"/>
              </a:lnSpc>
              <a:buNone/>
            </a:pPr>
            <a:r>
              <a:rPr lang="en-US" sz="1100" dirty="0">
                <a:solidFill>
                  <a:srgbClr val="6B7B79"/>
                </a:solidFill>
                <a:latin typeface="Calibri" pitchFamily="34" charset="0"/>
                <a:ea typeface="Calibri" pitchFamily="34" charset="-122"/>
                <a:cs typeface="Calibri" pitchFamily="34" charset="-120"/>
              </a:rPr>
              <a:t>Across multiple regions</a:t>
            </a:r>
            <a:endParaRPr lang="en-US" sz="1100" dirty="0"/>
          </a:p>
        </p:txBody>
      </p:sp>
      <p:sp>
        <p:nvSpPr>
          <p:cNvPr id="21" name="Text 19"/>
          <p:cNvSpPr/>
          <p:nvPr/>
        </p:nvSpPr>
        <p:spPr>
          <a:xfrm>
            <a:off x="11475720" y="6473952"/>
            <a:ext cx="548640" cy="274320"/>
          </a:xfrm>
          <a:prstGeom prst="rect">
            <a:avLst/>
          </a:prstGeom>
          <a:noFill/>
          <a:ln/>
        </p:spPr>
        <p:txBody>
          <a:bodyPr wrap="square" lIns="0" tIns="0" rIns="0" bIns="0" rtlCol="0" anchor="ctr"/>
          <a:lstStyle/>
          <a:p>
            <a:pPr marL="0" indent="0" algn="r">
              <a:buNone/>
            </a:pPr>
            <a:r>
              <a:rPr lang="en-US" sz="1000" dirty="0">
                <a:solidFill>
                  <a:srgbClr val="6B7B79"/>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marL="0" indent="0">
              <a:buNone/>
            </a:pPr>
            <a:r>
              <a:rPr lang="en-US" sz="1200" b="1" kern="0" spc="200" dirty="0">
                <a:solidFill>
                  <a:srgbClr val="028090"/>
                </a:solidFill>
                <a:latin typeface="Calibri" pitchFamily="34" charset="0"/>
                <a:ea typeface="Calibri" pitchFamily="34" charset="-122"/>
                <a:cs typeface="Calibri" pitchFamily="34" charset="-120"/>
              </a:rPr>
              <a:t>MARKET IMPACT</a:t>
            </a:r>
            <a:endParaRPr lang="en-US" sz="1200" dirty="0"/>
          </a:p>
        </p:txBody>
      </p:sp>
      <p:sp>
        <p:nvSpPr>
          <p:cNvPr id="3" name="Text 1"/>
          <p:cNvSpPr/>
          <p:nvPr/>
        </p:nvSpPr>
        <p:spPr>
          <a:xfrm>
            <a:off x="548640" y="777240"/>
            <a:ext cx="10515600" cy="822960"/>
          </a:xfrm>
          <a:prstGeom prst="rect">
            <a:avLst/>
          </a:prstGeom>
          <a:noFill/>
          <a:ln/>
        </p:spPr>
        <p:txBody>
          <a:bodyPr wrap="square" lIns="0" tIns="0" rIns="0" bIns="0" rtlCol="0" anchor="ctr"/>
          <a:lstStyle/>
          <a:p>
            <a:pPr marL="0" indent="0">
              <a:buNone/>
            </a:pPr>
            <a:r>
              <a:rPr lang="en-US" sz="3200" b="1" dirty="0">
                <a:solidFill>
                  <a:srgbClr val="1B2B2C"/>
                </a:solidFill>
                <a:latin typeface="Cambria" pitchFamily="34" charset="0"/>
                <a:ea typeface="Cambria" pitchFamily="34" charset="-122"/>
                <a:cs typeface="Cambria" pitchFamily="34" charset="-120"/>
              </a:rPr>
              <a:t>Full Ownership Turned Into Revenue Growth</a:t>
            </a:r>
            <a:endParaRPr lang="en-US" sz="3200" dirty="0"/>
          </a:p>
        </p:txBody>
      </p:sp>
      <p:sp>
        <p:nvSpPr>
          <p:cNvPr id="4" name="Text 2"/>
          <p:cNvSpPr/>
          <p:nvPr/>
        </p:nvSpPr>
        <p:spPr>
          <a:xfrm>
            <a:off x="548640" y="1554480"/>
            <a:ext cx="6675120" cy="914400"/>
          </a:xfrm>
          <a:prstGeom prst="rect">
            <a:avLst/>
          </a:prstGeom>
          <a:noFill/>
          <a:ln/>
        </p:spPr>
        <p:txBody>
          <a:bodyPr wrap="square" lIns="0" tIns="0" rIns="0" bIns="0" rtlCol="0" anchor="ctr"/>
          <a:lstStyle/>
          <a:p>
            <a:pPr marL="0" indent="0">
              <a:lnSpc>
                <a:spcPct val="125000"/>
              </a:lnSpc>
              <a:buNone/>
            </a:pPr>
            <a:r>
              <a:rPr lang="en-US" sz="1300" dirty="0">
                <a:solidFill>
                  <a:srgbClr val="1B2B2C"/>
                </a:solidFill>
                <a:latin typeface="Calibri" pitchFamily="34" charset="0"/>
                <a:ea typeface="Calibri" pitchFamily="34" charset="-122"/>
                <a:cs typeface="Calibri" pitchFamily="34" charset="-120"/>
              </a:rPr>
              <a:t>Since bringing the acquired Viatris biosimilars business fully in-house, Biocon's biosimilars segment has roughly tripled in revenue, now contributing the majority of group revenue at healthy margins.</a:t>
            </a:r>
            <a:endParaRPr lang="en-US" sz="1300" dirty="0"/>
          </a:p>
        </p:txBody>
      </p:sp>
      <p:graphicFrame>
        <p:nvGraphicFramePr>
          <p:cNvPr id="5" name="Chart 0"/>
          <p:cNvGraphicFramePr/>
          <p:nvPr/>
        </p:nvGraphicFramePr>
        <p:xfrm>
          <a:off x="548640" y="2606040"/>
          <a:ext cx="667512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452360" y="1554480"/>
            <a:ext cx="4160520" cy="4434840"/>
          </a:xfrm>
          <a:prstGeom prst="roundRect">
            <a:avLst>
              <a:gd name="adj" fmla="val 2198"/>
            </a:avLst>
          </a:prstGeom>
          <a:solidFill>
            <a:srgbClr val="042A2B"/>
          </a:solidFill>
          <a:ln/>
        </p:spPr>
      </p:sp>
      <p:sp>
        <p:nvSpPr>
          <p:cNvPr id="7" name="Text 4"/>
          <p:cNvSpPr/>
          <p:nvPr/>
        </p:nvSpPr>
        <p:spPr>
          <a:xfrm>
            <a:off x="7726680" y="1783080"/>
            <a:ext cx="3657600" cy="320040"/>
          </a:xfrm>
          <a:prstGeom prst="rect">
            <a:avLst/>
          </a:prstGeom>
          <a:noFill/>
          <a:ln/>
        </p:spPr>
        <p:txBody>
          <a:bodyPr wrap="square" lIns="0" tIns="0" rIns="0" bIns="0" rtlCol="0" anchor="ctr"/>
          <a:lstStyle/>
          <a:p>
            <a:pPr marL="0" indent="0">
              <a:buNone/>
            </a:pPr>
            <a:r>
              <a:rPr lang="en-US" sz="1200" b="1" kern="0" spc="150" dirty="0">
                <a:solidFill>
                  <a:srgbClr val="02C39A"/>
                </a:solidFill>
                <a:latin typeface="Calibri" pitchFamily="34" charset="0"/>
                <a:ea typeface="Calibri" pitchFamily="34" charset="-122"/>
                <a:cs typeface="Calibri" pitchFamily="34" charset="-120"/>
              </a:rPr>
              <a:t>FY26 AT A GLANCE</a:t>
            </a:r>
            <a:endParaRPr lang="en-US" sz="1200" dirty="0"/>
          </a:p>
        </p:txBody>
      </p:sp>
      <p:sp>
        <p:nvSpPr>
          <p:cNvPr id="8" name="Text 5"/>
          <p:cNvSpPr/>
          <p:nvPr/>
        </p:nvSpPr>
        <p:spPr>
          <a:xfrm>
            <a:off x="7726680" y="2194560"/>
            <a:ext cx="1371600" cy="5486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~60%</a:t>
            </a:r>
            <a:endParaRPr lang="en-US" sz="2600" dirty="0"/>
          </a:p>
        </p:txBody>
      </p:sp>
      <p:sp>
        <p:nvSpPr>
          <p:cNvPr id="9" name="Text 6"/>
          <p:cNvSpPr/>
          <p:nvPr/>
        </p:nvSpPr>
        <p:spPr>
          <a:xfrm>
            <a:off x="7726680" y="2724912"/>
            <a:ext cx="3566160" cy="457200"/>
          </a:xfrm>
          <a:prstGeom prst="rect">
            <a:avLst/>
          </a:prstGeom>
          <a:noFill/>
          <a:ln/>
        </p:spPr>
        <p:txBody>
          <a:bodyPr wrap="square" lIns="0" tIns="0" rIns="0" bIns="0" rtlCol="0" anchor="ctr"/>
          <a:lstStyle/>
          <a:p>
            <a:pPr marL="0" indent="0">
              <a:lnSpc>
                <a:spcPct val="115000"/>
              </a:lnSpc>
              <a:buNone/>
            </a:pPr>
            <a:r>
              <a:rPr lang="en-US" sz="1100" dirty="0">
                <a:solidFill>
                  <a:srgbClr val="B9D8D5"/>
                </a:solidFill>
                <a:latin typeface="Calibri" pitchFamily="34" charset="0"/>
                <a:ea typeface="Calibri" pitchFamily="34" charset="-122"/>
                <a:cs typeface="Calibri" pitchFamily="34" charset="-120"/>
              </a:rPr>
              <a:t>of consolidated revenue from biosimilars</a:t>
            </a:r>
            <a:endParaRPr lang="en-US" sz="1100" dirty="0"/>
          </a:p>
        </p:txBody>
      </p:sp>
      <p:sp>
        <p:nvSpPr>
          <p:cNvPr id="10" name="Text 7"/>
          <p:cNvSpPr/>
          <p:nvPr/>
        </p:nvSpPr>
        <p:spPr>
          <a:xfrm>
            <a:off x="7726680" y="3108960"/>
            <a:ext cx="1371600" cy="5486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~26%</a:t>
            </a:r>
            <a:endParaRPr lang="en-US" sz="2600" dirty="0"/>
          </a:p>
        </p:txBody>
      </p:sp>
      <p:sp>
        <p:nvSpPr>
          <p:cNvPr id="11" name="Text 8"/>
          <p:cNvSpPr/>
          <p:nvPr/>
        </p:nvSpPr>
        <p:spPr>
          <a:xfrm>
            <a:off x="7726680" y="3639312"/>
            <a:ext cx="3566160" cy="457200"/>
          </a:xfrm>
          <a:prstGeom prst="rect">
            <a:avLst/>
          </a:prstGeom>
          <a:noFill/>
          <a:ln/>
        </p:spPr>
        <p:txBody>
          <a:bodyPr wrap="square" lIns="0" tIns="0" rIns="0" bIns="0" rtlCol="0" anchor="ctr"/>
          <a:lstStyle/>
          <a:p>
            <a:pPr marL="0" indent="0">
              <a:lnSpc>
                <a:spcPct val="115000"/>
              </a:lnSpc>
              <a:buNone/>
            </a:pPr>
            <a:r>
              <a:rPr lang="en-US" sz="1100" dirty="0">
                <a:solidFill>
                  <a:srgbClr val="B9D8D5"/>
                </a:solidFill>
                <a:latin typeface="Calibri" pitchFamily="34" charset="0"/>
                <a:ea typeface="Calibri" pitchFamily="34" charset="-122"/>
                <a:cs typeface="Calibri" pitchFamily="34" charset="-120"/>
              </a:rPr>
              <a:t>biosimilars segment EBITDA margin</a:t>
            </a:r>
            <a:endParaRPr lang="en-US" sz="1100" dirty="0"/>
          </a:p>
        </p:txBody>
      </p:sp>
      <p:sp>
        <p:nvSpPr>
          <p:cNvPr id="12" name="Text 9"/>
          <p:cNvSpPr/>
          <p:nvPr/>
        </p:nvSpPr>
        <p:spPr>
          <a:xfrm>
            <a:off x="7726680" y="4023360"/>
            <a:ext cx="1371600" cy="5486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~16%</a:t>
            </a:r>
            <a:endParaRPr lang="en-US" sz="2600" dirty="0"/>
          </a:p>
        </p:txBody>
      </p:sp>
      <p:sp>
        <p:nvSpPr>
          <p:cNvPr id="13" name="Text 10"/>
          <p:cNvSpPr/>
          <p:nvPr/>
        </p:nvSpPr>
        <p:spPr>
          <a:xfrm>
            <a:off x="7726680" y="4553712"/>
            <a:ext cx="3566160" cy="457200"/>
          </a:xfrm>
          <a:prstGeom prst="rect">
            <a:avLst/>
          </a:prstGeom>
          <a:noFill/>
          <a:ln/>
        </p:spPr>
        <p:txBody>
          <a:bodyPr wrap="square" lIns="0" tIns="0" rIns="0" bIns="0" rtlCol="0" anchor="ctr"/>
          <a:lstStyle/>
          <a:p>
            <a:pPr marL="0" indent="0">
              <a:lnSpc>
                <a:spcPct val="115000"/>
              </a:lnSpc>
              <a:buNone/>
            </a:pPr>
            <a:r>
              <a:rPr lang="en-US" sz="1100" dirty="0">
                <a:solidFill>
                  <a:srgbClr val="B9D8D5"/>
                </a:solidFill>
                <a:latin typeface="Calibri" pitchFamily="34" charset="0"/>
                <a:ea typeface="Calibri" pitchFamily="34" charset="-122"/>
                <a:cs typeface="Calibri" pitchFamily="34" charset="-120"/>
              </a:rPr>
              <a:t>YoY biosimilars revenue growth</a:t>
            </a:r>
            <a:endParaRPr lang="en-US" sz="1100" dirty="0"/>
          </a:p>
        </p:txBody>
      </p:sp>
      <p:sp>
        <p:nvSpPr>
          <p:cNvPr id="14" name="Text 11"/>
          <p:cNvSpPr/>
          <p:nvPr/>
        </p:nvSpPr>
        <p:spPr>
          <a:xfrm>
            <a:off x="7726680" y="4937760"/>
            <a:ext cx="1371600" cy="5486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6.5M+</a:t>
            </a:r>
            <a:endParaRPr lang="en-US" sz="2600" dirty="0"/>
          </a:p>
        </p:txBody>
      </p:sp>
      <p:sp>
        <p:nvSpPr>
          <p:cNvPr id="15" name="Text 12"/>
          <p:cNvSpPr/>
          <p:nvPr/>
        </p:nvSpPr>
        <p:spPr>
          <a:xfrm>
            <a:off x="7726680" y="5468112"/>
            <a:ext cx="3566160" cy="457200"/>
          </a:xfrm>
          <a:prstGeom prst="rect">
            <a:avLst/>
          </a:prstGeom>
          <a:noFill/>
          <a:ln/>
        </p:spPr>
        <p:txBody>
          <a:bodyPr wrap="square" lIns="0" tIns="0" rIns="0" bIns="0" rtlCol="0" anchor="ctr"/>
          <a:lstStyle/>
          <a:p>
            <a:pPr marL="0" indent="0">
              <a:lnSpc>
                <a:spcPct val="115000"/>
              </a:lnSpc>
              <a:buNone/>
            </a:pPr>
            <a:r>
              <a:rPr lang="en-US" sz="1100" dirty="0">
                <a:solidFill>
                  <a:srgbClr val="B9D8D5"/>
                </a:solidFill>
                <a:latin typeface="Calibri" pitchFamily="34" charset="0"/>
                <a:ea typeface="Calibri" pitchFamily="34" charset="-122"/>
                <a:cs typeface="Calibri" pitchFamily="34" charset="-120"/>
              </a:rPr>
              <a:t>patients served annually</a:t>
            </a:r>
            <a:endParaRPr lang="en-US" sz="1100" dirty="0"/>
          </a:p>
        </p:txBody>
      </p:sp>
      <p:sp>
        <p:nvSpPr>
          <p:cNvPr id="16" name="Text 13"/>
          <p:cNvSpPr/>
          <p:nvPr/>
        </p:nvSpPr>
        <p:spPr>
          <a:xfrm>
            <a:off x="11475720" y="6473952"/>
            <a:ext cx="548640" cy="274320"/>
          </a:xfrm>
          <a:prstGeom prst="rect">
            <a:avLst/>
          </a:prstGeom>
          <a:noFill/>
          <a:ln/>
        </p:spPr>
        <p:txBody>
          <a:bodyPr wrap="square" lIns="0" tIns="0" rIns="0" bIns="0" rtlCol="0" anchor="ctr"/>
          <a:lstStyle/>
          <a:p>
            <a:pPr marL="0" indent="0" algn="r">
              <a:buNone/>
            </a:pPr>
            <a:r>
              <a:rPr lang="en-US" sz="1000" dirty="0">
                <a:solidFill>
                  <a:srgbClr val="5C7373"/>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marL="0" indent="0">
              <a:buNone/>
            </a:pPr>
            <a:r>
              <a:rPr lang="en-US" sz="1200" b="1" kern="0" spc="200" dirty="0">
                <a:solidFill>
                  <a:srgbClr val="028090"/>
                </a:solidFill>
                <a:latin typeface="Calibri" pitchFamily="34" charset="0"/>
                <a:ea typeface="Calibri" pitchFamily="34" charset="-122"/>
                <a:cs typeface="Calibri" pitchFamily="34" charset="-120"/>
              </a:rPr>
              <a:t>CHALLENGE 1</a:t>
            </a:r>
            <a:endParaRPr lang="en-US" sz="1200" dirty="0"/>
          </a:p>
        </p:txBody>
      </p:sp>
      <p:sp>
        <p:nvSpPr>
          <p:cNvPr id="3" name="Text 1"/>
          <p:cNvSpPr/>
          <p:nvPr/>
        </p:nvSpPr>
        <p:spPr>
          <a:xfrm>
            <a:off x="548640" y="777240"/>
            <a:ext cx="10515600" cy="914400"/>
          </a:xfrm>
          <a:prstGeom prst="rect">
            <a:avLst/>
          </a:prstGeom>
          <a:noFill/>
          <a:ln/>
        </p:spPr>
        <p:txBody>
          <a:bodyPr wrap="square" lIns="0" tIns="0" rIns="0" bIns="0" rtlCol="0" anchor="ctr"/>
          <a:lstStyle/>
          <a:p>
            <a:pPr marL="0" indent="0">
              <a:buNone/>
            </a:pPr>
            <a:r>
              <a:rPr lang="en-US" sz="3200" b="1" dirty="0">
                <a:solidFill>
                  <a:srgbClr val="1E2622"/>
                </a:solidFill>
                <a:latin typeface="Cambria" pitchFamily="34" charset="0"/>
                <a:ea typeface="Cambria" pitchFamily="34" charset="-122"/>
                <a:cs typeface="Cambria" pitchFamily="34" charset="-120"/>
              </a:rPr>
              <a:t>Environmental: Water, Waste &amp; Carbon Intensity</a:t>
            </a:r>
            <a:endParaRPr lang="en-US" sz="3200" dirty="0"/>
          </a:p>
        </p:txBody>
      </p:sp>
      <p:sp>
        <p:nvSpPr>
          <p:cNvPr id="4" name="Text 2"/>
          <p:cNvSpPr/>
          <p:nvPr/>
        </p:nvSpPr>
        <p:spPr>
          <a:xfrm>
            <a:off x="548640" y="1600200"/>
            <a:ext cx="10881360" cy="1097280"/>
          </a:xfrm>
          <a:prstGeom prst="rect">
            <a:avLst/>
          </a:prstGeom>
          <a:noFill/>
          <a:ln/>
        </p:spPr>
        <p:txBody>
          <a:bodyPr wrap="square" lIns="0" tIns="0" rIns="0" bIns="0" rtlCol="0" anchor="ctr"/>
          <a:lstStyle/>
          <a:p>
            <a:pPr marL="0" indent="0">
              <a:lnSpc>
                <a:spcPct val="130000"/>
              </a:lnSpc>
              <a:buNone/>
            </a:pPr>
            <a:r>
              <a:rPr lang="en-US" sz="1350" dirty="0">
                <a:solidFill>
                  <a:srgbClr val="1E2622"/>
                </a:solidFill>
                <a:latin typeface="Calibri" pitchFamily="34" charset="0"/>
                <a:ea typeface="Calibri" pitchFamily="34" charset="-122"/>
                <a:cs typeface="Calibri" pitchFamily="34" charset="-120"/>
              </a:rPr>
              <a:t>Biopharmaceutical manufacturing is water and energy-intensive. Biocon's operations produce significant wastewater filled with pharmaceutical residues, requiring advanced treatment. It is a significant challenge for the company to reduce freshwater consumption, manage effluent responsibly, and cut greenhouse gas emissions, while maintaining production capacity to serve growing global demand.</a:t>
            </a:r>
            <a:endParaRPr lang="en-US" sz="1350" dirty="0"/>
          </a:p>
        </p:txBody>
      </p:sp>
      <p:sp>
        <p:nvSpPr>
          <p:cNvPr id="5" name="Shape 3"/>
          <p:cNvSpPr/>
          <p:nvPr/>
        </p:nvSpPr>
        <p:spPr>
          <a:xfrm>
            <a:off x="548640" y="2880360"/>
            <a:ext cx="5029200" cy="3200400"/>
          </a:xfrm>
          <a:prstGeom prst="roundRect">
            <a:avLst>
              <a:gd name="adj" fmla="val 2857"/>
            </a:avLst>
          </a:prstGeom>
          <a:solidFill>
            <a:srgbClr val="FFEBEE"/>
          </a:solidFill>
          <a:ln w="12700">
            <a:solidFill>
              <a:srgbClr val="E8B4B4"/>
            </a:solidFill>
            <a:prstDash val="solid"/>
          </a:ln>
        </p:spPr>
      </p:sp>
      <p:sp>
        <p:nvSpPr>
          <p:cNvPr id="6" name="Text 4"/>
          <p:cNvSpPr/>
          <p:nvPr/>
        </p:nvSpPr>
        <p:spPr>
          <a:xfrm>
            <a:off x="777240" y="3063240"/>
            <a:ext cx="4572000" cy="320040"/>
          </a:xfrm>
          <a:prstGeom prst="rect">
            <a:avLst/>
          </a:prstGeom>
          <a:noFill/>
          <a:ln/>
        </p:spPr>
        <p:txBody>
          <a:bodyPr wrap="square" lIns="0" tIns="0" rIns="0" bIns="0" rtlCol="0" anchor="ctr"/>
          <a:lstStyle/>
          <a:p>
            <a:pPr marL="0" indent="0">
              <a:buNone/>
            </a:pPr>
            <a:r>
              <a:rPr lang="en-US" sz="1300" b="1" kern="0" spc="150" dirty="0">
                <a:solidFill>
                  <a:srgbClr val="C62828"/>
                </a:solidFill>
                <a:latin typeface="Calibri" pitchFamily="34" charset="0"/>
                <a:ea typeface="Calibri" pitchFamily="34" charset="-122"/>
                <a:cs typeface="Calibri" pitchFamily="34" charset="-120"/>
              </a:rPr>
              <a:t>KEY CHALLENGES</a:t>
            </a:r>
            <a:endParaRPr lang="en-US" sz="1300" dirty="0"/>
          </a:p>
        </p:txBody>
      </p:sp>
      <p:sp>
        <p:nvSpPr>
          <p:cNvPr id="7" name="Shape 5"/>
          <p:cNvSpPr/>
          <p:nvPr/>
        </p:nvSpPr>
        <p:spPr>
          <a:xfrm>
            <a:off x="777240" y="3657600"/>
            <a:ext cx="91440" cy="91440"/>
          </a:xfrm>
          <a:prstGeom prst="ellipse">
            <a:avLst/>
          </a:prstGeom>
          <a:solidFill>
            <a:srgbClr val="C62828"/>
          </a:solidFill>
          <a:ln/>
        </p:spPr>
      </p:sp>
      <p:sp>
        <p:nvSpPr>
          <p:cNvPr id="8" name="Text 6"/>
          <p:cNvSpPr/>
          <p:nvPr/>
        </p:nvSpPr>
        <p:spPr>
          <a:xfrm>
            <a:off x="1005840" y="3429000"/>
            <a:ext cx="4572000" cy="594360"/>
          </a:xfrm>
          <a:prstGeom prst="rect">
            <a:avLst/>
          </a:prstGeom>
          <a:noFill/>
          <a:ln/>
        </p:spPr>
        <p:txBody>
          <a:bodyPr wrap="square" lIns="0" tIns="0" rIns="0" bIns="0" rtlCol="0" anchor="ctr"/>
          <a:lstStyle/>
          <a:p>
            <a:pPr marL="0" indent="0">
              <a:lnSpc>
                <a:spcPct val="120000"/>
              </a:lnSpc>
              <a:buNone/>
            </a:pPr>
            <a:r>
              <a:rPr lang="en-US" sz="1200" dirty="0">
                <a:solidFill>
                  <a:srgbClr val="1E2622"/>
                </a:solidFill>
                <a:latin typeface="Calibri" pitchFamily="34" charset="0"/>
                <a:ea typeface="Calibri" pitchFamily="34" charset="-122"/>
                <a:cs typeface="Calibri" pitchFamily="34" charset="-120"/>
              </a:rPr>
              <a:t>Bioreactor manufacturing consumes high volumes of freshwater for cooling, purification &amp; processing</a:t>
            </a:r>
            <a:endParaRPr lang="en-US" sz="1200" dirty="0"/>
          </a:p>
        </p:txBody>
      </p:sp>
      <p:sp>
        <p:nvSpPr>
          <p:cNvPr id="9" name="Shape 7"/>
          <p:cNvSpPr/>
          <p:nvPr/>
        </p:nvSpPr>
        <p:spPr>
          <a:xfrm>
            <a:off x="777240" y="4339703"/>
            <a:ext cx="91440" cy="91440"/>
          </a:xfrm>
          <a:prstGeom prst="ellipse">
            <a:avLst/>
          </a:prstGeom>
          <a:solidFill>
            <a:srgbClr val="C62828"/>
          </a:solidFill>
          <a:ln/>
        </p:spPr>
      </p:sp>
      <p:sp>
        <p:nvSpPr>
          <p:cNvPr id="10" name="Text 8"/>
          <p:cNvSpPr/>
          <p:nvPr/>
        </p:nvSpPr>
        <p:spPr>
          <a:xfrm>
            <a:off x="1005840" y="4114800"/>
            <a:ext cx="4572000" cy="594360"/>
          </a:xfrm>
          <a:prstGeom prst="rect">
            <a:avLst/>
          </a:prstGeom>
          <a:noFill/>
          <a:ln/>
        </p:spPr>
        <p:txBody>
          <a:bodyPr wrap="square" lIns="0" tIns="0" rIns="0" bIns="0" rtlCol="0" anchor="ctr"/>
          <a:lstStyle/>
          <a:p>
            <a:pPr marL="0" indent="0">
              <a:lnSpc>
                <a:spcPct val="120000"/>
              </a:lnSpc>
              <a:buNone/>
            </a:pPr>
            <a:r>
              <a:rPr lang="en-US" sz="1200" dirty="0">
                <a:solidFill>
                  <a:srgbClr val="1E2622"/>
                </a:solidFill>
                <a:latin typeface="Calibri" pitchFamily="34" charset="0"/>
                <a:ea typeface="Calibri" pitchFamily="34" charset="-122"/>
                <a:cs typeface="Calibri" pitchFamily="34" charset="-120"/>
              </a:rPr>
              <a:t>Wastewater treatment and ZLD (zero liquid discharge) systems require significant capital &amp; ongoing OpEx</a:t>
            </a:r>
            <a:endParaRPr lang="en-US" sz="1200" dirty="0"/>
          </a:p>
        </p:txBody>
      </p:sp>
      <p:sp>
        <p:nvSpPr>
          <p:cNvPr id="11" name="Shape 9"/>
          <p:cNvSpPr/>
          <p:nvPr/>
        </p:nvSpPr>
        <p:spPr>
          <a:xfrm>
            <a:off x="777240" y="5041261"/>
            <a:ext cx="91440" cy="91440"/>
          </a:xfrm>
          <a:prstGeom prst="ellipse">
            <a:avLst/>
          </a:prstGeom>
          <a:solidFill>
            <a:srgbClr val="C62828"/>
          </a:solidFill>
          <a:ln/>
        </p:spPr>
      </p:sp>
      <p:sp>
        <p:nvSpPr>
          <p:cNvPr id="12" name="Text 10"/>
          <p:cNvSpPr/>
          <p:nvPr/>
        </p:nvSpPr>
        <p:spPr>
          <a:xfrm>
            <a:off x="1005840" y="4800600"/>
            <a:ext cx="4572000" cy="594360"/>
          </a:xfrm>
          <a:prstGeom prst="rect">
            <a:avLst/>
          </a:prstGeom>
          <a:noFill/>
          <a:ln/>
        </p:spPr>
        <p:txBody>
          <a:bodyPr wrap="square" lIns="0" tIns="0" rIns="0" bIns="0" rtlCol="0" anchor="ctr"/>
          <a:lstStyle/>
          <a:p>
            <a:pPr marL="0" indent="0">
              <a:lnSpc>
                <a:spcPct val="120000"/>
              </a:lnSpc>
              <a:buNone/>
            </a:pPr>
            <a:r>
              <a:rPr lang="en-US" sz="1200" dirty="0">
                <a:solidFill>
                  <a:srgbClr val="1E2622"/>
                </a:solidFill>
                <a:latin typeface="Calibri" pitchFamily="34" charset="0"/>
                <a:ea typeface="Calibri" pitchFamily="34" charset="-122"/>
                <a:cs typeface="Calibri" pitchFamily="34" charset="-120"/>
              </a:rPr>
              <a:t>Scope 1 &amp; 2 GHG emissions driven by energy-intensive fermentation and cooling systems</a:t>
            </a:r>
            <a:endParaRPr lang="en-US" sz="1200" dirty="0"/>
          </a:p>
        </p:txBody>
      </p:sp>
      <p:sp>
        <p:nvSpPr>
          <p:cNvPr id="13" name="Shape 11"/>
          <p:cNvSpPr/>
          <p:nvPr/>
        </p:nvSpPr>
        <p:spPr>
          <a:xfrm>
            <a:off x="777240" y="5692140"/>
            <a:ext cx="91440" cy="91440"/>
          </a:xfrm>
          <a:prstGeom prst="ellipse">
            <a:avLst/>
          </a:prstGeom>
          <a:solidFill>
            <a:srgbClr val="C62828"/>
          </a:solidFill>
          <a:ln/>
        </p:spPr>
      </p:sp>
      <p:sp>
        <p:nvSpPr>
          <p:cNvPr id="14" name="Text 12"/>
          <p:cNvSpPr/>
          <p:nvPr/>
        </p:nvSpPr>
        <p:spPr>
          <a:xfrm>
            <a:off x="1005840" y="5486400"/>
            <a:ext cx="4572000" cy="594360"/>
          </a:xfrm>
          <a:prstGeom prst="rect">
            <a:avLst/>
          </a:prstGeom>
          <a:noFill/>
          <a:ln/>
        </p:spPr>
        <p:txBody>
          <a:bodyPr wrap="square" lIns="0" tIns="0" rIns="0" bIns="0" rtlCol="0" anchor="ctr"/>
          <a:lstStyle/>
          <a:p>
            <a:pPr marL="0" indent="0">
              <a:lnSpc>
                <a:spcPct val="120000"/>
              </a:lnSpc>
              <a:buNone/>
            </a:pPr>
            <a:r>
              <a:rPr lang="en-US" sz="1200" dirty="0">
                <a:solidFill>
                  <a:srgbClr val="1E2622"/>
                </a:solidFill>
                <a:latin typeface="Calibri" pitchFamily="34" charset="0"/>
                <a:ea typeface="Calibri" pitchFamily="34" charset="-122"/>
                <a:cs typeface="Calibri" pitchFamily="34" charset="-120"/>
              </a:rPr>
              <a:t>Pharmaceutical residues in discharge require rigorous treatment to meet environmental standards</a:t>
            </a:r>
            <a:endParaRPr lang="en-US" sz="1200" dirty="0"/>
          </a:p>
        </p:txBody>
      </p:sp>
      <p:sp>
        <p:nvSpPr>
          <p:cNvPr id="15" name="Shape 13"/>
          <p:cNvSpPr/>
          <p:nvPr/>
        </p:nvSpPr>
        <p:spPr>
          <a:xfrm>
            <a:off x="5760720" y="2880360"/>
            <a:ext cx="5120640" cy="3200400"/>
          </a:xfrm>
          <a:prstGeom prst="roundRect">
            <a:avLst>
              <a:gd name="adj" fmla="val 2857"/>
            </a:avLst>
          </a:prstGeom>
          <a:solidFill>
            <a:srgbClr val="F0F7F6"/>
          </a:solidFill>
          <a:ln w="12700">
            <a:solidFill>
              <a:srgbClr val="A8CFCA"/>
            </a:solidFill>
            <a:prstDash val="solid"/>
          </a:ln>
        </p:spPr>
      </p:sp>
      <p:sp>
        <p:nvSpPr>
          <p:cNvPr id="16" name="Text 14"/>
          <p:cNvSpPr/>
          <p:nvPr/>
        </p:nvSpPr>
        <p:spPr>
          <a:xfrm>
            <a:off x="5989320" y="3063240"/>
            <a:ext cx="4572000" cy="320040"/>
          </a:xfrm>
          <a:prstGeom prst="rect">
            <a:avLst/>
          </a:prstGeom>
          <a:noFill/>
          <a:ln/>
        </p:spPr>
        <p:txBody>
          <a:bodyPr wrap="square" lIns="0" tIns="0" rIns="0" bIns="0" rtlCol="0" anchor="ctr"/>
          <a:lstStyle/>
          <a:p>
            <a:pPr marL="0" indent="0">
              <a:buNone/>
            </a:pPr>
            <a:r>
              <a:rPr lang="en-US" sz="1300" b="1" kern="0" spc="150" dirty="0">
                <a:solidFill>
                  <a:srgbClr val="028090"/>
                </a:solidFill>
                <a:latin typeface="Calibri" pitchFamily="34" charset="0"/>
                <a:ea typeface="Calibri" pitchFamily="34" charset="-122"/>
                <a:cs typeface="Calibri" pitchFamily="34" charset="-120"/>
              </a:rPr>
              <a:t>BIOCON'S RESPONSE</a:t>
            </a:r>
            <a:endParaRPr lang="en-US" sz="1300" dirty="0"/>
          </a:p>
        </p:txBody>
      </p:sp>
      <p:sp>
        <p:nvSpPr>
          <p:cNvPr id="17" name="Shape 15"/>
          <p:cNvSpPr/>
          <p:nvPr/>
        </p:nvSpPr>
        <p:spPr>
          <a:xfrm>
            <a:off x="5989320" y="3654098"/>
            <a:ext cx="73152" cy="73152"/>
          </a:xfrm>
          <a:prstGeom prst="ellipse">
            <a:avLst/>
          </a:prstGeom>
          <a:solidFill>
            <a:srgbClr val="028090"/>
          </a:solidFill>
          <a:ln/>
        </p:spPr>
      </p:sp>
      <p:sp>
        <p:nvSpPr>
          <p:cNvPr id="18" name="Text 16"/>
          <p:cNvSpPr/>
          <p:nvPr/>
        </p:nvSpPr>
        <p:spPr>
          <a:xfrm>
            <a:off x="6199632" y="3429000"/>
            <a:ext cx="4663440" cy="594360"/>
          </a:xfrm>
          <a:prstGeom prst="rect">
            <a:avLst/>
          </a:prstGeom>
          <a:noFill/>
          <a:ln/>
        </p:spPr>
        <p:txBody>
          <a:bodyPr wrap="square" lIns="0" tIns="0" rIns="0" bIns="0" rtlCol="0" anchor="ctr"/>
          <a:lstStyle/>
          <a:p>
            <a:pPr marL="0" indent="0">
              <a:lnSpc>
                <a:spcPct val="120000"/>
              </a:lnSpc>
              <a:buNone/>
            </a:pPr>
            <a:r>
              <a:rPr lang="en-US" sz="1200" dirty="0">
                <a:solidFill>
                  <a:srgbClr val="1E2622"/>
                </a:solidFill>
                <a:latin typeface="Calibri" pitchFamily="34" charset="0"/>
                <a:ea typeface="Calibri" pitchFamily="34" charset="-122"/>
                <a:cs typeface="Calibri" pitchFamily="34" charset="-120"/>
              </a:rPr>
              <a:t>₹80M investment in 600 KLD zero liquid discharge (ZLD) plant in Bengaluru (2022)</a:t>
            </a:r>
            <a:endParaRPr lang="en-US" sz="1200" dirty="0"/>
          </a:p>
        </p:txBody>
      </p:sp>
      <p:sp>
        <p:nvSpPr>
          <p:cNvPr id="19" name="Shape 17"/>
          <p:cNvSpPr/>
          <p:nvPr/>
        </p:nvSpPr>
        <p:spPr>
          <a:xfrm>
            <a:off x="5989320" y="4385423"/>
            <a:ext cx="73152" cy="73152"/>
          </a:xfrm>
          <a:prstGeom prst="ellipse">
            <a:avLst/>
          </a:prstGeom>
          <a:solidFill>
            <a:srgbClr val="028090"/>
          </a:solidFill>
          <a:ln/>
        </p:spPr>
      </p:sp>
      <p:sp>
        <p:nvSpPr>
          <p:cNvPr id="20" name="Text 18"/>
          <p:cNvSpPr/>
          <p:nvPr/>
        </p:nvSpPr>
        <p:spPr>
          <a:xfrm>
            <a:off x="6199632" y="4114800"/>
            <a:ext cx="4663440" cy="594360"/>
          </a:xfrm>
          <a:prstGeom prst="rect">
            <a:avLst/>
          </a:prstGeom>
          <a:noFill/>
          <a:ln/>
        </p:spPr>
        <p:txBody>
          <a:bodyPr wrap="square" lIns="0" tIns="0" rIns="0" bIns="0" rtlCol="0" anchor="ctr"/>
          <a:lstStyle/>
          <a:p>
            <a:pPr marL="0" indent="0">
              <a:lnSpc>
                <a:spcPct val="120000"/>
              </a:lnSpc>
              <a:buNone/>
            </a:pPr>
            <a:r>
              <a:rPr lang="en-US" sz="1200" dirty="0">
                <a:solidFill>
                  <a:srgbClr val="1E2622"/>
                </a:solidFill>
                <a:latin typeface="Calibri" pitchFamily="34" charset="0"/>
                <a:ea typeface="Calibri" pitchFamily="34" charset="-122"/>
                <a:cs typeface="Calibri" pitchFamily="34" charset="-120"/>
              </a:rPr>
              <a:t>Target: 25% freshwater reduction by FY29 (from FY23 baseline)</a:t>
            </a:r>
            <a:endParaRPr lang="en-US" sz="1200" dirty="0"/>
          </a:p>
        </p:txBody>
      </p:sp>
      <p:sp>
        <p:nvSpPr>
          <p:cNvPr id="21" name="Shape 19"/>
          <p:cNvSpPr/>
          <p:nvPr/>
        </p:nvSpPr>
        <p:spPr>
          <a:xfrm>
            <a:off x="5989320" y="5013829"/>
            <a:ext cx="73152" cy="73152"/>
          </a:xfrm>
          <a:prstGeom prst="ellipse">
            <a:avLst/>
          </a:prstGeom>
          <a:solidFill>
            <a:srgbClr val="028090"/>
          </a:solidFill>
          <a:ln/>
        </p:spPr>
      </p:sp>
      <p:sp>
        <p:nvSpPr>
          <p:cNvPr id="22" name="Text 20"/>
          <p:cNvSpPr/>
          <p:nvPr/>
        </p:nvSpPr>
        <p:spPr>
          <a:xfrm>
            <a:off x="6199632" y="4800600"/>
            <a:ext cx="4663440" cy="594360"/>
          </a:xfrm>
          <a:prstGeom prst="rect">
            <a:avLst/>
          </a:prstGeom>
          <a:noFill/>
          <a:ln/>
        </p:spPr>
        <p:txBody>
          <a:bodyPr wrap="square" lIns="0" tIns="0" rIns="0" bIns="0" rtlCol="0" anchor="ctr"/>
          <a:lstStyle/>
          <a:p>
            <a:pPr marL="0" indent="0">
              <a:lnSpc>
                <a:spcPct val="120000"/>
              </a:lnSpc>
              <a:buNone/>
            </a:pPr>
            <a:r>
              <a:rPr lang="en-US" sz="1200" dirty="0">
                <a:solidFill>
                  <a:srgbClr val="1E2622"/>
                </a:solidFill>
                <a:latin typeface="Calibri" pitchFamily="34" charset="0"/>
                <a:ea typeface="Calibri" pitchFamily="34" charset="-122"/>
                <a:cs typeface="Calibri" pitchFamily="34" charset="-120"/>
              </a:rPr>
              <a:t>Target: 25% GHG emission reduction (Scope 1&amp;2) by FY29 (from FY20 baseline)</a:t>
            </a:r>
            <a:endParaRPr lang="en-US" sz="1200" dirty="0"/>
          </a:p>
        </p:txBody>
      </p:sp>
      <p:sp>
        <p:nvSpPr>
          <p:cNvPr id="23" name="Shape 21"/>
          <p:cNvSpPr/>
          <p:nvPr/>
        </p:nvSpPr>
        <p:spPr>
          <a:xfrm>
            <a:off x="5989320" y="5783580"/>
            <a:ext cx="73152" cy="73152"/>
          </a:xfrm>
          <a:prstGeom prst="ellipse">
            <a:avLst/>
          </a:prstGeom>
          <a:solidFill>
            <a:srgbClr val="028090"/>
          </a:solidFill>
          <a:ln/>
        </p:spPr>
      </p:sp>
      <p:sp>
        <p:nvSpPr>
          <p:cNvPr id="24" name="Text 22"/>
          <p:cNvSpPr/>
          <p:nvPr/>
        </p:nvSpPr>
        <p:spPr>
          <a:xfrm>
            <a:off x="6199632" y="5486400"/>
            <a:ext cx="4663440" cy="594360"/>
          </a:xfrm>
          <a:prstGeom prst="rect">
            <a:avLst/>
          </a:prstGeom>
          <a:noFill/>
          <a:ln/>
        </p:spPr>
        <p:txBody>
          <a:bodyPr wrap="square" lIns="0" tIns="0" rIns="0" bIns="0" rtlCol="0" anchor="ctr"/>
          <a:lstStyle/>
          <a:p>
            <a:pPr marL="0" indent="0">
              <a:lnSpc>
                <a:spcPct val="120000"/>
              </a:lnSpc>
              <a:buNone/>
            </a:pPr>
            <a:r>
              <a:rPr lang="en-US" sz="1200" dirty="0">
                <a:solidFill>
                  <a:srgbClr val="1E2622"/>
                </a:solidFill>
                <a:latin typeface="Calibri" pitchFamily="34" charset="0"/>
                <a:ea typeface="Calibri" pitchFamily="34" charset="-122"/>
                <a:cs typeface="Calibri" pitchFamily="34" charset="-120"/>
              </a:rPr>
              <a:t>100% circular waste by FY29; renewable energy transition underway</a:t>
            </a:r>
            <a:endParaRPr lang="en-US" sz="1200" dirty="0"/>
          </a:p>
        </p:txBody>
      </p:sp>
      <p:sp>
        <p:nvSpPr>
          <p:cNvPr id="25" name="Text 23"/>
          <p:cNvSpPr/>
          <p:nvPr/>
        </p:nvSpPr>
        <p:spPr>
          <a:xfrm>
            <a:off x="11475720" y="6473952"/>
            <a:ext cx="548640" cy="274320"/>
          </a:xfrm>
          <a:prstGeom prst="rect">
            <a:avLst/>
          </a:prstGeom>
          <a:noFill/>
          <a:ln/>
        </p:spPr>
        <p:txBody>
          <a:bodyPr wrap="square" lIns="0" tIns="0" rIns="0" bIns="0" rtlCol="0" anchor="ctr"/>
          <a:lstStyle/>
          <a:p>
            <a:pPr marL="0" indent="0" algn="r">
              <a:buNone/>
            </a:pPr>
            <a:r>
              <a:rPr lang="en-US" sz="1000" dirty="0">
                <a:solidFill>
                  <a:srgbClr val="6B7B79"/>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marL="0" indent="0">
              <a:buNone/>
            </a:pPr>
            <a:r>
              <a:rPr lang="en-US" sz="1200" b="1" kern="0" spc="200" dirty="0">
                <a:solidFill>
                  <a:srgbClr val="028090"/>
                </a:solidFill>
                <a:latin typeface="Calibri" pitchFamily="34" charset="0"/>
                <a:ea typeface="Calibri" pitchFamily="34" charset="-122"/>
                <a:cs typeface="Calibri" pitchFamily="34" charset="-120"/>
              </a:rPr>
              <a:t>CHALLENGE 1</a:t>
            </a:r>
            <a:endParaRPr lang="en-US" sz="1200" dirty="0"/>
          </a:p>
        </p:txBody>
      </p:sp>
      <p:sp>
        <p:nvSpPr>
          <p:cNvPr id="3" name="Text 1"/>
          <p:cNvSpPr/>
          <p:nvPr/>
        </p:nvSpPr>
        <p:spPr>
          <a:xfrm>
            <a:off x="548640" y="777240"/>
            <a:ext cx="10515600" cy="914400"/>
          </a:xfrm>
          <a:prstGeom prst="rect">
            <a:avLst/>
          </a:prstGeom>
          <a:noFill/>
          <a:ln/>
        </p:spPr>
        <p:txBody>
          <a:bodyPr wrap="square" lIns="0" tIns="0" rIns="0" bIns="0" rtlCol="0" anchor="ctr"/>
          <a:lstStyle/>
          <a:p>
            <a:pPr marL="0" indent="0">
              <a:buNone/>
            </a:pPr>
            <a:r>
              <a:rPr lang="en-US" sz="3200" b="1" dirty="0">
                <a:solidFill>
                  <a:srgbClr val="1E2622"/>
                </a:solidFill>
                <a:latin typeface="Cambria" pitchFamily="34" charset="0"/>
                <a:ea typeface="Cambria" pitchFamily="34" charset="-122"/>
                <a:cs typeface="Cambria" pitchFamily="34" charset="-120"/>
              </a:rPr>
              <a:t>Climate Risks: Extreme Weather, Scarcity &amp; Regulations</a:t>
            </a:r>
            <a:endParaRPr lang="en-US" sz="3200" dirty="0"/>
          </a:p>
        </p:txBody>
      </p:sp>
      <p:sp>
        <p:nvSpPr>
          <p:cNvPr id="4" name="Shape 2"/>
          <p:cNvSpPr/>
          <p:nvPr/>
        </p:nvSpPr>
        <p:spPr>
          <a:xfrm>
            <a:off x="548640" y="1691640"/>
            <a:ext cx="73152" cy="1234440"/>
          </a:xfrm>
          <a:prstGeom prst="roundRect">
            <a:avLst/>
          </a:prstGeom>
          <a:solidFill>
            <a:srgbClr val="028090"/>
          </a:solidFill>
          <a:ln/>
        </p:spPr>
      </p:sp>
      <p:sp>
        <p:nvSpPr>
          <p:cNvPr id="5" name="Shape 3"/>
          <p:cNvSpPr/>
          <p:nvPr/>
        </p:nvSpPr>
        <p:spPr>
          <a:xfrm>
            <a:off x="548640" y="1691640"/>
            <a:ext cx="10881360" cy="1234440"/>
          </a:xfrm>
          <a:prstGeom prst="roundRect">
            <a:avLst>
              <a:gd name="adj" fmla="val 5926"/>
            </a:avLst>
          </a:prstGeom>
          <a:solidFill>
            <a:srgbClr val="F0F7F6"/>
          </a:solidFill>
          <a:ln w="12700">
            <a:solidFill>
              <a:srgbClr val="D4E4E0"/>
            </a:solidFill>
            <a:prstDash val="solid"/>
          </a:ln>
        </p:spPr>
      </p:sp>
      <p:sp>
        <p:nvSpPr>
          <p:cNvPr id="6" name="Text 4"/>
          <p:cNvSpPr/>
          <p:nvPr/>
        </p:nvSpPr>
        <p:spPr>
          <a:xfrm>
            <a:off x="822960" y="1783080"/>
            <a:ext cx="3200400" cy="502920"/>
          </a:xfrm>
          <a:prstGeom prst="rect">
            <a:avLst/>
          </a:prstGeom>
          <a:noFill/>
          <a:ln/>
        </p:spPr>
        <p:txBody>
          <a:bodyPr wrap="square" lIns="0" tIns="0" rIns="0" bIns="0" rtlCol="0" anchor="ctr"/>
          <a:lstStyle/>
          <a:p>
            <a:pPr marL="0" indent="0">
              <a:lnSpc>
                <a:spcPct val="110000"/>
              </a:lnSpc>
              <a:buNone/>
            </a:pPr>
            <a:r>
              <a:rPr lang="en-US" sz="1300" b="1" dirty="0">
                <a:solidFill>
                  <a:srgbClr val="028090"/>
                </a:solidFill>
                <a:latin typeface="Calibri" pitchFamily="34" charset="0"/>
                <a:ea typeface="Calibri" pitchFamily="34" charset="-122"/>
                <a:cs typeface="Calibri" pitchFamily="34" charset="-120"/>
              </a:rPr>
              <a:t>Heat Stress &amp; Water Scarcity</a:t>
            </a:r>
            <a:endParaRPr lang="en-US" sz="1300" dirty="0"/>
          </a:p>
        </p:txBody>
      </p:sp>
      <p:sp>
        <p:nvSpPr>
          <p:cNvPr id="7" name="Text 5"/>
          <p:cNvSpPr/>
          <p:nvPr/>
        </p:nvSpPr>
        <p:spPr>
          <a:xfrm>
            <a:off x="4206240" y="1783080"/>
            <a:ext cx="3474720" cy="1051560"/>
          </a:xfrm>
          <a:prstGeom prst="rect">
            <a:avLst/>
          </a:prstGeom>
          <a:noFill/>
          <a:ln/>
        </p:spPr>
        <p:txBody>
          <a:bodyPr wrap="square" lIns="0" tIns="0" rIns="0" bIns="0" rtlCol="0" anchor="ctr"/>
          <a:lstStyle/>
          <a:p>
            <a:pPr marL="0" indent="0">
              <a:lnSpc>
                <a:spcPct val="120000"/>
              </a:lnSpc>
              <a:buNone/>
            </a:pPr>
            <a:r>
              <a:rPr lang="en-US" sz="1100" dirty="0">
                <a:solidFill>
                  <a:srgbClr val="1E2622"/>
                </a:solidFill>
                <a:latin typeface="Calibri" pitchFamily="34" charset="0"/>
                <a:ea typeface="Calibri" pitchFamily="34" charset="-122"/>
                <a:cs typeface="Calibri" pitchFamily="34" charset="-120"/>
              </a:rPr>
              <a:t>Rising temperatures in India and Southeast Asia increase cooling demands and water competition. Droughts can disrupt bioreactor operations.</a:t>
            </a:r>
            <a:endParaRPr lang="en-US" sz="1100" dirty="0"/>
          </a:p>
        </p:txBody>
      </p:sp>
      <p:sp>
        <p:nvSpPr>
          <p:cNvPr id="8" name="Text 6"/>
          <p:cNvSpPr/>
          <p:nvPr/>
        </p:nvSpPr>
        <p:spPr>
          <a:xfrm>
            <a:off x="7863840" y="1783080"/>
            <a:ext cx="3474720" cy="1051560"/>
          </a:xfrm>
          <a:prstGeom prst="rect">
            <a:avLst/>
          </a:prstGeom>
          <a:noFill/>
          <a:ln/>
        </p:spPr>
        <p:txBody>
          <a:bodyPr wrap="square" lIns="0" tIns="0" rIns="0" bIns="0" rtlCol="0" anchor="ctr"/>
          <a:lstStyle/>
          <a:p>
            <a:pPr marL="0" indent="0">
              <a:lnSpc>
                <a:spcPct val="120000"/>
              </a:lnSpc>
              <a:buNone/>
            </a:pPr>
            <a:r>
              <a:rPr lang="en-US" sz="1100" i="1" dirty="0">
                <a:solidFill>
                  <a:srgbClr val="6B7B79"/>
                </a:solidFill>
                <a:latin typeface="Calibri" pitchFamily="34" charset="0"/>
                <a:ea typeface="Calibri" pitchFamily="34" charset="-122"/>
                <a:cs typeface="Calibri" pitchFamily="34" charset="-120"/>
              </a:rPr>
              <a:t>Diversify water sources; invest in rainwater harvesting; relocate or dual-site critical facilities.</a:t>
            </a:r>
            <a:endParaRPr lang="en-US" sz="1100" dirty="0"/>
          </a:p>
        </p:txBody>
      </p:sp>
      <p:sp>
        <p:nvSpPr>
          <p:cNvPr id="9" name="Shape 7"/>
          <p:cNvSpPr/>
          <p:nvPr/>
        </p:nvSpPr>
        <p:spPr>
          <a:xfrm>
            <a:off x="548640" y="3154680"/>
            <a:ext cx="73152" cy="1234440"/>
          </a:xfrm>
          <a:prstGeom prst="roundRect">
            <a:avLst/>
          </a:prstGeom>
          <a:solidFill>
            <a:srgbClr val="028090"/>
          </a:solidFill>
          <a:ln/>
        </p:spPr>
      </p:sp>
      <p:sp>
        <p:nvSpPr>
          <p:cNvPr id="10" name="Shape 8"/>
          <p:cNvSpPr/>
          <p:nvPr/>
        </p:nvSpPr>
        <p:spPr>
          <a:xfrm>
            <a:off x="548640" y="3154680"/>
            <a:ext cx="10881360" cy="1234440"/>
          </a:xfrm>
          <a:prstGeom prst="roundRect">
            <a:avLst>
              <a:gd name="adj" fmla="val 5926"/>
            </a:avLst>
          </a:prstGeom>
          <a:solidFill>
            <a:srgbClr val="F0F7F6"/>
          </a:solidFill>
          <a:ln w="12700">
            <a:solidFill>
              <a:srgbClr val="D4E4E0"/>
            </a:solidFill>
            <a:prstDash val="solid"/>
          </a:ln>
        </p:spPr>
      </p:sp>
      <p:sp>
        <p:nvSpPr>
          <p:cNvPr id="11" name="Text 9"/>
          <p:cNvSpPr/>
          <p:nvPr/>
        </p:nvSpPr>
        <p:spPr>
          <a:xfrm>
            <a:off x="822960" y="3246120"/>
            <a:ext cx="3200400" cy="502920"/>
          </a:xfrm>
          <a:prstGeom prst="rect">
            <a:avLst/>
          </a:prstGeom>
          <a:noFill/>
          <a:ln/>
        </p:spPr>
        <p:txBody>
          <a:bodyPr wrap="square" lIns="0" tIns="0" rIns="0" bIns="0" rtlCol="0" anchor="ctr"/>
          <a:lstStyle/>
          <a:p>
            <a:pPr marL="0" indent="0">
              <a:lnSpc>
                <a:spcPct val="110000"/>
              </a:lnSpc>
              <a:buNone/>
            </a:pPr>
            <a:r>
              <a:rPr lang="en-US" sz="1300" b="1" dirty="0">
                <a:solidFill>
                  <a:srgbClr val="028090"/>
                </a:solidFill>
                <a:latin typeface="Calibri" pitchFamily="34" charset="0"/>
                <a:ea typeface="Calibri" pitchFamily="34" charset="-122"/>
                <a:cs typeface="Calibri" pitchFamily="34" charset="-120"/>
              </a:rPr>
              <a:t>Supply Chain Disruption</a:t>
            </a:r>
            <a:endParaRPr lang="en-US" sz="1300" dirty="0"/>
          </a:p>
        </p:txBody>
      </p:sp>
      <p:sp>
        <p:nvSpPr>
          <p:cNvPr id="12" name="Text 10"/>
          <p:cNvSpPr/>
          <p:nvPr/>
        </p:nvSpPr>
        <p:spPr>
          <a:xfrm>
            <a:off x="4206240" y="3246120"/>
            <a:ext cx="3474720" cy="1051560"/>
          </a:xfrm>
          <a:prstGeom prst="rect">
            <a:avLst/>
          </a:prstGeom>
          <a:noFill/>
          <a:ln/>
        </p:spPr>
        <p:txBody>
          <a:bodyPr wrap="square" lIns="0" tIns="0" rIns="0" bIns="0" rtlCol="0" anchor="ctr"/>
          <a:lstStyle/>
          <a:p>
            <a:pPr marL="0" indent="0">
              <a:lnSpc>
                <a:spcPct val="120000"/>
              </a:lnSpc>
              <a:buNone/>
            </a:pPr>
            <a:r>
              <a:rPr lang="en-US" sz="1100" dirty="0">
                <a:solidFill>
                  <a:srgbClr val="1E2622"/>
                </a:solidFill>
                <a:latin typeface="Calibri" pitchFamily="34" charset="0"/>
                <a:ea typeface="Calibri" pitchFamily="34" charset="-122"/>
                <a:cs typeface="Calibri" pitchFamily="34" charset="-120"/>
              </a:rPr>
              <a:t>Geopolitical tensions, pandemics or extreme weather can sever logistics for cold-chain inputs, biologic materials and finished goods.</a:t>
            </a:r>
            <a:endParaRPr lang="en-US" sz="1100" dirty="0"/>
          </a:p>
        </p:txBody>
      </p:sp>
      <p:sp>
        <p:nvSpPr>
          <p:cNvPr id="13" name="Text 11"/>
          <p:cNvSpPr/>
          <p:nvPr/>
        </p:nvSpPr>
        <p:spPr>
          <a:xfrm>
            <a:off x="7863840" y="3246120"/>
            <a:ext cx="3474720" cy="1051560"/>
          </a:xfrm>
          <a:prstGeom prst="rect">
            <a:avLst/>
          </a:prstGeom>
          <a:noFill/>
          <a:ln/>
        </p:spPr>
        <p:txBody>
          <a:bodyPr wrap="square" lIns="0" tIns="0" rIns="0" bIns="0" rtlCol="0" anchor="ctr"/>
          <a:lstStyle/>
          <a:p>
            <a:pPr marL="0" indent="0">
              <a:lnSpc>
                <a:spcPct val="120000"/>
              </a:lnSpc>
              <a:buNone/>
            </a:pPr>
            <a:r>
              <a:rPr lang="en-US" sz="1100" i="1" dirty="0">
                <a:solidFill>
                  <a:srgbClr val="6B7B79"/>
                </a:solidFill>
                <a:latin typeface="Calibri" pitchFamily="34" charset="0"/>
                <a:ea typeface="Calibri" pitchFamily="34" charset="-122"/>
                <a:cs typeface="Calibri" pitchFamily="34" charset="-120"/>
              </a:rPr>
              <a:t>Strengthen supplier diversification; pre-position inventory; enhance supply-chain visibility.</a:t>
            </a:r>
            <a:endParaRPr lang="en-US" sz="1100" dirty="0"/>
          </a:p>
        </p:txBody>
      </p:sp>
      <p:sp>
        <p:nvSpPr>
          <p:cNvPr id="14" name="Shape 12"/>
          <p:cNvSpPr/>
          <p:nvPr/>
        </p:nvSpPr>
        <p:spPr>
          <a:xfrm>
            <a:off x="548640" y="4617720"/>
            <a:ext cx="73152" cy="1234440"/>
          </a:xfrm>
          <a:prstGeom prst="roundRect">
            <a:avLst/>
          </a:prstGeom>
          <a:solidFill>
            <a:srgbClr val="028090"/>
          </a:solidFill>
          <a:ln/>
        </p:spPr>
      </p:sp>
      <p:sp>
        <p:nvSpPr>
          <p:cNvPr id="15" name="Shape 13"/>
          <p:cNvSpPr/>
          <p:nvPr/>
        </p:nvSpPr>
        <p:spPr>
          <a:xfrm>
            <a:off x="548640" y="4617720"/>
            <a:ext cx="10881360" cy="1234440"/>
          </a:xfrm>
          <a:prstGeom prst="roundRect">
            <a:avLst>
              <a:gd name="adj" fmla="val 5926"/>
            </a:avLst>
          </a:prstGeom>
          <a:solidFill>
            <a:srgbClr val="F0F7F6"/>
          </a:solidFill>
          <a:ln w="12700">
            <a:solidFill>
              <a:srgbClr val="D4E4E0"/>
            </a:solidFill>
            <a:prstDash val="solid"/>
          </a:ln>
        </p:spPr>
      </p:sp>
      <p:sp>
        <p:nvSpPr>
          <p:cNvPr id="16" name="Text 14"/>
          <p:cNvSpPr/>
          <p:nvPr/>
        </p:nvSpPr>
        <p:spPr>
          <a:xfrm>
            <a:off x="822960" y="4709160"/>
            <a:ext cx="3200400" cy="502920"/>
          </a:xfrm>
          <a:prstGeom prst="rect">
            <a:avLst/>
          </a:prstGeom>
          <a:noFill/>
          <a:ln/>
        </p:spPr>
        <p:txBody>
          <a:bodyPr wrap="square" lIns="0" tIns="0" rIns="0" bIns="0" rtlCol="0" anchor="ctr"/>
          <a:lstStyle/>
          <a:p>
            <a:pPr marL="0" indent="0">
              <a:lnSpc>
                <a:spcPct val="110000"/>
              </a:lnSpc>
              <a:buNone/>
            </a:pPr>
            <a:r>
              <a:rPr lang="en-US" sz="1300" b="1" dirty="0">
                <a:solidFill>
                  <a:srgbClr val="028090"/>
                </a:solidFill>
                <a:latin typeface="Calibri" pitchFamily="34" charset="0"/>
                <a:ea typeface="Calibri" pitchFamily="34" charset="-122"/>
                <a:cs typeface="Calibri" pitchFamily="34" charset="-120"/>
              </a:rPr>
              <a:t>Evolving Regulations</a:t>
            </a:r>
            <a:endParaRPr lang="en-US" sz="1300" dirty="0"/>
          </a:p>
        </p:txBody>
      </p:sp>
      <p:sp>
        <p:nvSpPr>
          <p:cNvPr id="17" name="Text 15"/>
          <p:cNvSpPr/>
          <p:nvPr/>
        </p:nvSpPr>
        <p:spPr>
          <a:xfrm>
            <a:off x="4206240" y="4709160"/>
            <a:ext cx="3474720" cy="1051560"/>
          </a:xfrm>
          <a:prstGeom prst="rect">
            <a:avLst/>
          </a:prstGeom>
          <a:noFill/>
          <a:ln/>
        </p:spPr>
        <p:txBody>
          <a:bodyPr wrap="square" lIns="0" tIns="0" rIns="0" bIns="0" rtlCol="0" anchor="ctr"/>
          <a:lstStyle/>
          <a:p>
            <a:pPr marL="0" indent="0">
              <a:lnSpc>
                <a:spcPct val="120000"/>
              </a:lnSpc>
              <a:buNone/>
            </a:pPr>
            <a:r>
              <a:rPr lang="en-US" sz="1100" dirty="0">
                <a:solidFill>
                  <a:srgbClr val="1E2622"/>
                </a:solidFill>
                <a:latin typeface="Calibri" pitchFamily="34" charset="0"/>
                <a:ea typeface="Calibri" pitchFamily="34" charset="-122"/>
                <a:cs typeface="Calibri" pitchFamily="34" charset="-120"/>
              </a:rPr>
              <a:t>Stricter climate and environmental regulations (EU Green Deal, India water-quality laws) increase compliance costs and operational overhead.</a:t>
            </a:r>
            <a:endParaRPr lang="en-US" sz="1100" dirty="0"/>
          </a:p>
        </p:txBody>
      </p:sp>
      <p:sp>
        <p:nvSpPr>
          <p:cNvPr id="18" name="Text 16"/>
          <p:cNvSpPr/>
          <p:nvPr/>
        </p:nvSpPr>
        <p:spPr>
          <a:xfrm>
            <a:off x="7863840" y="4709160"/>
            <a:ext cx="3474720" cy="1051560"/>
          </a:xfrm>
          <a:prstGeom prst="rect">
            <a:avLst/>
          </a:prstGeom>
          <a:noFill/>
          <a:ln/>
        </p:spPr>
        <p:txBody>
          <a:bodyPr wrap="square" lIns="0" tIns="0" rIns="0" bIns="0" rtlCol="0" anchor="ctr"/>
          <a:lstStyle/>
          <a:p>
            <a:pPr marL="0" indent="0">
              <a:lnSpc>
                <a:spcPct val="120000"/>
              </a:lnSpc>
              <a:buNone/>
            </a:pPr>
            <a:r>
              <a:rPr lang="en-US" sz="1100" i="1" dirty="0">
                <a:solidFill>
                  <a:srgbClr val="6B7B79"/>
                </a:solidFill>
                <a:latin typeface="Calibri" pitchFamily="34" charset="0"/>
                <a:ea typeface="Calibri" pitchFamily="34" charset="-122"/>
                <a:cs typeface="Calibri" pitchFamily="34" charset="-120"/>
              </a:rPr>
              <a:t>Proactive engagement with policymakers; integrate climate risk into strategic planning; sustainability certifications.</a:t>
            </a:r>
            <a:endParaRPr lang="en-US" sz="1100" dirty="0"/>
          </a:p>
        </p:txBody>
      </p:sp>
      <p:sp>
        <p:nvSpPr>
          <p:cNvPr id="19" name="Shape 17"/>
          <p:cNvSpPr/>
          <p:nvPr/>
        </p:nvSpPr>
        <p:spPr>
          <a:xfrm>
            <a:off x="548640" y="6080760"/>
            <a:ext cx="10881360" cy="640080"/>
          </a:xfrm>
          <a:prstGeom prst="roundRect">
            <a:avLst>
              <a:gd name="adj" fmla="val 11429"/>
            </a:avLst>
          </a:prstGeom>
          <a:solidFill>
            <a:schemeClr val="accent6">
              <a:lumMod val="20000"/>
              <a:lumOff val="80000"/>
              <a:alpha val="80000"/>
            </a:schemeClr>
          </a:solidFill>
          <a:ln/>
        </p:spPr>
      </p:sp>
      <p:sp>
        <p:nvSpPr>
          <p:cNvPr id="20" name="Text 18"/>
          <p:cNvSpPr/>
          <p:nvPr/>
        </p:nvSpPr>
        <p:spPr>
          <a:xfrm>
            <a:off x="777240" y="6172200"/>
            <a:ext cx="10515600" cy="457200"/>
          </a:xfrm>
          <a:prstGeom prst="rect">
            <a:avLst/>
          </a:prstGeom>
          <a:noFill/>
          <a:ln/>
        </p:spPr>
        <p:txBody>
          <a:bodyPr wrap="square" lIns="0" tIns="0" rIns="0" bIns="0" rtlCol="0" anchor="ctr"/>
          <a:lstStyle/>
          <a:p>
            <a:pPr marL="0" indent="0">
              <a:buNone/>
            </a:pPr>
            <a:r>
              <a:rPr lang="en-US" sz="1100" i="1" dirty="0">
                <a:solidFill>
                  <a:srgbClr val="1E2622"/>
                </a:solidFill>
                <a:latin typeface="Calibri" pitchFamily="34" charset="0"/>
                <a:ea typeface="Calibri" pitchFamily="34" charset="-122"/>
                <a:cs typeface="Calibri" pitchFamily="34" charset="-120"/>
              </a:rPr>
              <a:t>💡 Insight: Biocon's S&amp;P Global CDP Climate Change score improved to A- (from B in 2024), reflecting progress. However, water security remains a medium-term vulnerability, especially given manufacturing expansion in water-stressed regions.</a:t>
            </a:r>
            <a:endParaRPr lang="en-US" sz="1100" dirty="0"/>
          </a:p>
        </p:txBody>
      </p:sp>
      <p:sp>
        <p:nvSpPr>
          <p:cNvPr id="21" name="Text 19"/>
          <p:cNvSpPr/>
          <p:nvPr/>
        </p:nvSpPr>
        <p:spPr>
          <a:xfrm>
            <a:off x="11475720" y="6473952"/>
            <a:ext cx="548640" cy="274320"/>
          </a:xfrm>
          <a:prstGeom prst="rect">
            <a:avLst/>
          </a:prstGeom>
          <a:noFill/>
          <a:ln/>
        </p:spPr>
        <p:txBody>
          <a:bodyPr wrap="square" lIns="0" tIns="0" rIns="0" bIns="0" rtlCol="0" anchor="ctr"/>
          <a:lstStyle/>
          <a:p>
            <a:pPr marL="0" indent="0" algn="r">
              <a:buNone/>
            </a:pPr>
            <a:r>
              <a:rPr lang="en-US" sz="1000" dirty="0">
                <a:solidFill>
                  <a:srgbClr val="6B7B79"/>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marL="0" indent="0">
              <a:buNone/>
            </a:pPr>
            <a:r>
              <a:rPr lang="en-US" sz="1200" b="1" kern="0" spc="200" dirty="0">
                <a:solidFill>
                  <a:srgbClr val="028090"/>
                </a:solidFill>
                <a:latin typeface="Calibri" pitchFamily="34" charset="0"/>
                <a:ea typeface="Calibri" pitchFamily="34" charset="-122"/>
                <a:cs typeface="Calibri" pitchFamily="34" charset="-120"/>
              </a:rPr>
              <a:t>CHALLENGE 2</a:t>
            </a:r>
            <a:endParaRPr lang="en-US" sz="1200" dirty="0"/>
          </a:p>
        </p:txBody>
      </p:sp>
      <p:sp>
        <p:nvSpPr>
          <p:cNvPr id="3" name="Text 1"/>
          <p:cNvSpPr/>
          <p:nvPr/>
        </p:nvSpPr>
        <p:spPr>
          <a:xfrm>
            <a:off x="548640" y="777240"/>
            <a:ext cx="10515600" cy="914400"/>
          </a:xfrm>
          <a:prstGeom prst="rect">
            <a:avLst/>
          </a:prstGeom>
          <a:noFill/>
          <a:ln/>
        </p:spPr>
        <p:txBody>
          <a:bodyPr wrap="square" lIns="0" tIns="0" rIns="0" bIns="0" rtlCol="0" anchor="ctr"/>
          <a:lstStyle/>
          <a:p>
            <a:pPr marL="0" indent="0">
              <a:buNone/>
            </a:pPr>
            <a:r>
              <a:rPr lang="en-US" sz="3200" b="1" dirty="0">
                <a:solidFill>
                  <a:srgbClr val="1E2622"/>
                </a:solidFill>
                <a:latin typeface="Cambria" pitchFamily="34" charset="0"/>
                <a:ea typeface="Cambria" pitchFamily="34" charset="-122"/>
                <a:cs typeface="Cambria" pitchFamily="34" charset="-120"/>
              </a:rPr>
              <a:t>Social: Workforce Equity, Safety &amp; Community</a:t>
            </a:r>
            <a:endParaRPr lang="en-US" sz="3200" dirty="0"/>
          </a:p>
        </p:txBody>
      </p:sp>
      <p:sp>
        <p:nvSpPr>
          <p:cNvPr id="4" name="Text 2"/>
          <p:cNvSpPr/>
          <p:nvPr/>
        </p:nvSpPr>
        <p:spPr>
          <a:xfrm>
            <a:off x="548640" y="1600200"/>
            <a:ext cx="10881360" cy="1188720"/>
          </a:xfrm>
          <a:prstGeom prst="rect">
            <a:avLst/>
          </a:prstGeom>
          <a:noFill/>
          <a:ln/>
        </p:spPr>
        <p:txBody>
          <a:bodyPr wrap="square" lIns="0" tIns="0" rIns="0" bIns="0" rtlCol="0" anchor="ctr"/>
          <a:lstStyle/>
          <a:p>
            <a:pPr marL="0" indent="0">
              <a:lnSpc>
                <a:spcPct val="130000"/>
              </a:lnSpc>
              <a:buNone/>
            </a:pPr>
            <a:r>
              <a:rPr lang="en-US" sz="1350" dirty="0">
                <a:solidFill>
                  <a:srgbClr val="1E2622"/>
                </a:solidFill>
                <a:latin typeface="Calibri" pitchFamily="34" charset="0"/>
                <a:ea typeface="Calibri" pitchFamily="34" charset="-122"/>
                <a:cs typeface="Calibri" pitchFamily="34" charset="-120"/>
              </a:rPr>
              <a:t>Biocon employs 12,000+ across multiple countries with varying labor standards and geographies. Challenges include: ensuring fair wages and safe working conditions across manufacturing and R&amp;D; building genuine diversity and inclusion (especially gender parity in scientific roles); and navigating community expectations in water-stressed regions where the company extracts significant freshwater.</a:t>
            </a:r>
            <a:endParaRPr lang="en-US" sz="1350" dirty="0"/>
          </a:p>
        </p:txBody>
      </p:sp>
      <p:sp>
        <p:nvSpPr>
          <p:cNvPr id="5" name="Shape 3"/>
          <p:cNvSpPr/>
          <p:nvPr/>
        </p:nvSpPr>
        <p:spPr>
          <a:xfrm>
            <a:off x="548640" y="2971800"/>
            <a:ext cx="3474720" cy="3200400"/>
          </a:xfrm>
          <a:prstGeom prst="roundRect">
            <a:avLst>
              <a:gd name="adj" fmla="val 2857"/>
            </a:avLst>
          </a:prstGeom>
          <a:solidFill>
            <a:srgbClr val="FFEBEE"/>
          </a:solidFill>
          <a:ln w="12700">
            <a:solidFill>
              <a:srgbClr val="D4E4E0"/>
            </a:solidFill>
            <a:prstDash val="solid"/>
          </a:ln>
        </p:spPr>
      </p:sp>
      <p:sp>
        <p:nvSpPr>
          <p:cNvPr id="6" name="Text 4"/>
          <p:cNvSpPr/>
          <p:nvPr/>
        </p:nvSpPr>
        <p:spPr>
          <a:xfrm>
            <a:off x="749808" y="3154680"/>
            <a:ext cx="3072384" cy="320040"/>
          </a:xfrm>
          <a:prstGeom prst="rect">
            <a:avLst/>
          </a:prstGeom>
          <a:noFill/>
          <a:ln/>
        </p:spPr>
        <p:txBody>
          <a:bodyPr wrap="square" lIns="0" tIns="0" rIns="0" bIns="0" rtlCol="0" anchor="ctr"/>
          <a:lstStyle/>
          <a:p>
            <a:pPr marL="0" indent="0">
              <a:buNone/>
            </a:pPr>
            <a:r>
              <a:rPr lang="en-US" sz="1200" b="1" kern="0" spc="120" dirty="0">
                <a:solidFill>
                  <a:srgbClr val="C62828"/>
                </a:solidFill>
                <a:latin typeface="Calibri" pitchFamily="34" charset="0"/>
                <a:ea typeface="Calibri" pitchFamily="34" charset="-122"/>
                <a:cs typeface="Calibri" pitchFamily="34" charset="-120"/>
              </a:rPr>
              <a:t>KEY CHALLENGES</a:t>
            </a:r>
            <a:endParaRPr lang="en-US" sz="1200" dirty="0"/>
          </a:p>
        </p:txBody>
      </p:sp>
      <p:sp>
        <p:nvSpPr>
          <p:cNvPr id="7" name="Shape 5"/>
          <p:cNvSpPr/>
          <p:nvPr/>
        </p:nvSpPr>
        <p:spPr>
          <a:xfrm>
            <a:off x="749808" y="3611880"/>
            <a:ext cx="73152" cy="73152"/>
          </a:xfrm>
          <a:prstGeom prst="ellipse">
            <a:avLst/>
          </a:prstGeom>
          <a:solidFill>
            <a:srgbClr val="C62828"/>
          </a:solidFill>
          <a:ln/>
        </p:spPr>
      </p:sp>
      <p:sp>
        <p:nvSpPr>
          <p:cNvPr id="8" name="Text 6"/>
          <p:cNvSpPr/>
          <p:nvPr/>
        </p:nvSpPr>
        <p:spPr>
          <a:xfrm>
            <a:off x="932688" y="3538728"/>
            <a:ext cx="2889504" cy="548640"/>
          </a:xfrm>
          <a:prstGeom prst="rect">
            <a:avLst/>
          </a:prstGeom>
          <a:noFill/>
          <a:ln/>
        </p:spPr>
        <p:txBody>
          <a:bodyPr wrap="square" lIns="0" tIns="0" rIns="0" bIns="0" rtlCol="0" anchor="ctr"/>
          <a:lstStyle/>
          <a:p>
            <a:pPr marL="0" indent="0">
              <a:lnSpc>
                <a:spcPct val="115000"/>
              </a:lnSpc>
              <a:buNone/>
            </a:pPr>
            <a:r>
              <a:rPr lang="en-US" sz="1050" dirty="0">
                <a:solidFill>
                  <a:srgbClr val="1E2622"/>
                </a:solidFill>
                <a:latin typeface="Calibri" pitchFamily="34" charset="0"/>
                <a:ea typeface="Calibri" pitchFamily="34" charset="-122"/>
                <a:cs typeface="Calibri" pitchFamily="34" charset="-120"/>
              </a:rPr>
              <a:t>Gender underrepresentation in scientific &amp; leadership roles</a:t>
            </a:r>
            <a:endParaRPr lang="en-US" sz="1050" dirty="0"/>
          </a:p>
        </p:txBody>
      </p:sp>
      <p:sp>
        <p:nvSpPr>
          <p:cNvPr id="9" name="Shape 7"/>
          <p:cNvSpPr/>
          <p:nvPr/>
        </p:nvSpPr>
        <p:spPr>
          <a:xfrm>
            <a:off x="749808" y="4233672"/>
            <a:ext cx="73152" cy="73152"/>
          </a:xfrm>
          <a:prstGeom prst="ellipse">
            <a:avLst/>
          </a:prstGeom>
          <a:solidFill>
            <a:srgbClr val="C62828"/>
          </a:solidFill>
          <a:ln/>
        </p:spPr>
      </p:sp>
      <p:sp>
        <p:nvSpPr>
          <p:cNvPr id="10" name="Text 8"/>
          <p:cNvSpPr/>
          <p:nvPr/>
        </p:nvSpPr>
        <p:spPr>
          <a:xfrm>
            <a:off x="932688" y="4160520"/>
            <a:ext cx="2889504" cy="548640"/>
          </a:xfrm>
          <a:prstGeom prst="rect">
            <a:avLst/>
          </a:prstGeom>
          <a:noFill/>
          <a:ln/>
        </p:spPr>
        <p:txBody>
          <a:bodyPr wrap="square" lIns="0" tIns="0" rIns="0" bIns="0" rtlCol="0" anchor="ctr"/>
          <a:lstStyle/>
          <a:p>
            <a:pPr marL="0" indent="0">
              <a:lnSpc>
                <a:spcPct val="115000"/>
              </a:lnSpc>
              <a:buNone/>
            </a:pPr>
            <a:r>
              <a:rPr lang="en-US" sz="1050" dirty="0">
                <a:solidFill>
                  <a:srgbClr val="1E2622"/>
                </a:solidFill>
                <a:latin typeface="Calibri" pitchFamily="34" charset="0"/>
                <a:ea typeface="Calibri" pitchFamily="34" charset="-122"/>
                <a:cs typeface="Calibri" pitchFamily="34" charset="-120"/>
              </a:rPr>
              <a:t>Ensuring safe work &amp; zero-accident culture across global sites</a:t>
            </a:r>
            <a:endParaRPr lang="en-US" sz="1050" dirty="0"/>
          </a:p>
        </p:txBody>
      </p:sp>
      <p:sp>
        <p:nvSpPr>
          <p:cNvPr id="11" name="Shape 9"/>
          <p:cNvSpPr/>
          <p:nvPr/>
        </p:nvSpPr>
        <p:spPr>
          <a:xfrm>
            <a:off x="749808" y="4855464"/>
            <a:ext cx="73152" cy="73152"/>
          </a:xfrm>
          <a:prstGeom prst="ellipse">
            <a:avLst/>
          </a:prstGeom>
          <a:solidFill>
            <a:srgbClr val="C62828"/>
          </a:solidFill>
          <a:ln/>
        </p:spPr>
      </p:sp>
      <p:sp>
        <p:nvSpPr>
          <p:cNvPr id="12" name="Text 10"/>
          <p:cNvSpPr/>
          <p:nvPr/>
        </p:nvSpPr>
        <p:spPr>
          <a:xfrm>
            <a:off x="932688" y="4782312"/>
            <a:ext cx="2889504" cy="548640"/>
          </a:xfrm>
          <a:prstGeom prst="rect">
            <a:avLst/>
          </a:prstGeom>
          <a:noFill/>
          <a:ln/>
        </p:spPr>
        <p:txBody>
          <a:bodyPr wrap="square" lIns="0" tIns="0" rIns="0" bIns="0" rtlCol="0" anchor="ctr"/>
          <a:lstStyle/>
          <a:p>
            <a:pPr marL="0" indent="0">
              <a:lnSpc>
                <a:spcPct val="115000"/>
              </a:lnSpc>
              <a:buNone/>
            </a:pPr>
            <a:r>
              <a:rPr lang="en-US" sz="1050" dirty="0">
                <a:solidFill>
                  <a:srgbClr val="1E2622"/>
                </a:solidFill>
                <a:latin typeface="Calibri" pitchFamily="34" charset="0"/>
                <a:ea typeface="Calibri" pitchFamily="34" charset="-122"/>
                <a:cs typeface="Calibri" pitchFamily="34" charset="-120"/>
              </a:rPr>
              <a:t>Fair compensation in emerging markets vs. developed economies</a:t>
            </a:r>
            <a:endParaRPr lang="en-US" sz="1050" dirty="0"/>
          </a:p>
        </p:txBody>
      </p:sp>
      <p:sp>
        <p:nvSpPr>
          <p:cNvPr id="13" name="Shape 11"/>
          <p:cNvSpPr/>
          <p:nvPr/>
        </p:nvSpPr>
        <p:spPr>
          <a:xfrm>
            <a:off x="749808" y="5477256"/>
            <a:ext cx="73152" cy="73152"/>
          </a:xfrm>
          <a:prstGeom prst="ellipse">
            <a:avLst/>
          </a:prstGeom>
          <a:solidFill>
            <a:srgbClr val="C62828"/>
          </a:solidFill>
          <a:ln/>
        </p:spPr>
      </p:sp>
      <p:sp>
        <p:nvSpPr>
          <p:cNvPr id="14" name="Text 12"/>
          <p:cNvSpPr/>
          <p:nvPr/>
        </p:nvSpPr>
        <p:spPr>
          <a:xfrm>
            <a:off x="932688" y="5404104"/>
            <a:ext cx="2889504" cy="548640"/>
          </a:xfrm>
          <a:prstGeom prst="rect">
            <a:avLst/>
          </a:prstGeom>
          <a:noFill/>
          <a:ln/>
        </p:spPr>
        <p:txBody>
          <a:bodyPr wrap="square" lIns="0" tIns="0" rIns="0" bIns="0" rtlCol="0" anchor="ctr"/>
          <a:lstStyle/>
          <a:p>
            <a:pPr marL="0" indent="0">
              <a:lnSpc>
                <a:spcPct val="115000"/>
              </a:lnSpc>
              <a:buNone/>
            </a:pPr>
            <a:r>
              <a:rPr lang="en-US" sz="1050" dirty="0">
                <a:solidFill>
                  <a:srgbClr val="1E2622"/>
                </a:solidFill>
                <a:latin typeface="Calibri" pitchFamily="34" charset="0"/>
                <a:ea typeface="Calibri" pitchFamily="34" charset="-122"/>
                <a:cs typeface="Calibri" pitchFamily="34" charset="-120"/>
              </a:rPr>
              <a:t>Community relations amid water extraction pressures</a:t>
            </a:r>
            <a:endParaRPr lang="en-US" sz="1050" dirty="0"/>
          </a:p>
        </p:txBody>
      </p:sp>
      <p:sp>
        <p:nvSpPr>
          <p:cNvPr id="15" name="Shape 13"/>
          <p:cNvSpPr/>
          <p:nvPr/>
        </p:nvSpPr>
        <p:spPr>
          <a:xfrm>
            <a:off x="4160520" y="2971800"/>
            <a:ext cx="3474720" cy="3200400"/>
          </a:xfrm>
          <a:prstGeom prst="roundRect">
            <a:avLst>
              <a:gd name="adj" fmla="val 2857"/>
            </a:avLst>
          </a:prstGeom>
          <a:solidFill>
            <a:srgbClr val="F0F7F6"/>
          </a:solidFill>
          <a:ln w="12700">
            <a:solidFill>
              <a:srgbClr val="D4E4E0"/>
            </a:solidFill>
            <a:prstDash val="solid"/>
          </a:ln>
        </p:spPr>
      </p:sp>
      <p:sp>
        <p:nvSpPr>
          <p:cNvPr id="16" name="Text 14"/>
          <p:cNvSpPr/>
          <p:nvPr/>
        </p:nvSpPr>
        <p:spPr>
          <a:xfrm>
            <a:off x="4361688" y="3154680"/>
            <a:ext cx="3072384" cy="320040"/>
          </a:xfrm>
          <a:prstGeom prst="rect">
            <a:avLst/>
          </a:prstGeom>
          <a:noFill/>
          <a:ln/>
        </p:spPr>
        <p:txBody>
          <a:bodyPr wrap="square" lIns="0" tIns="0" rIns="0" bIns="0" rtlCol="0" anchor="ctr"/>
          <a:lstStyle/>
          <a:p>
            <a:pPr marL="0" indent="0">
              <a:buNone/>
            </a:pPr>
            <a:r>
              <a:rPr lang="en-US" sz="1200" b="1" kern="0" spc="120" dirty="0">
                <a:solidFill>
                  <a:srgbClr val="028090"/>
                </a:solidFill>
                <a:latin typeface="Calibri" pitchFamily="34" charset="0"/>
                <a:ea typeface="Calibri" pitchFamily="34" charset="-122"/>
                <a:cs typeface="Calibri" pitchFamily="34" charset="-120"/>
              </a:rPr>
              <a:t>BIOCON'S INITIATIVES</a:t>
            </a:r>
            <a:endParaRPr lang="en-US" sz="1200" dirty="0"/>
          </a:p>
        </p:txBody>
      </p:sp>
      <p:sp>
        <p:nvSpPr>
          <p:cNvPr id="17" name="Shape 15"/>
          <p:cNvSpPr/>
          <p:nvPr/>
        </p:nvSpPr>
        <p:spPr>
          <a:xfrm>
            <a:off x="4361688" y="3611880"/>
            <a:ext cx="73152" cy="73152"/>
          </a:xfrm>
          <a:prstGeom prst="ellipse">
            <a:avLst/>
          </a:prstGeom>
          <a:solidFill>
            <a:srgbClr val="028090"/>
          </a:solidFill>
          <a:ln/>
        </p:spPr>
      </p:sp>
      <p:sp>
        <p:nvSpPr>
          <p:cNvPr id="18" name="Text 16"/>
          <p:cNvSpPr/>
          <p:nvPr/>
        </p:nvSpPr>
        <p:spPr>
          <a:xfrm>
            <a:off x="4544568" y="3538728"/>
            <a:ext cx="2889504" cy="548640"/>
          </a:xfrm>
          <a:prstGeom prst="rect">
            <a:avLst/>
          </a:prstGeom>
          <a:noFill/>
          <a:ln/>
        </p:spPr>
        <p:txBody>
          <a:bodyPr wrap="square" lIns="0" tIns="0" rIns="0" bIns="0" rtlCol="0" anchor="ctr"/>
          <a:lstStyle/>
          <a:p>
            <a:pPr marL="0" indent="0">
              <a:lnSpc>
                <a:spcPct val="115000"/>
              </a:lnSpc>
              <a:buNone/>
            </a:pPr>
            <a:r>
              <a:rPr lang="en-US" sz="1050" dirty="0">
                <a:solidFill>
                  <a:srgbClr val="1E2622"/>
                </a:solidFill>
                <a:latin typeface="Calibri" pitchFamily="34" charset="0"/>
                <a:ea typeface="Calibri" pitchFamily="34" charset="-122"/>
                <a:cs typeface="Calibri" pitchFamily="34" charset="-120"/>
              </a:rPr>
              <a:t>BioWin forum for women empowerment &amp; work-life balance</a:t>
            </a:r>
            <a:endParaRPr lang="en-US" sz="1050" dirty="0"/>
          </a:p>
        </p:txBody>
      </p:sp>
      <p:sp>
        <p:nvSpPr>
          <p:cNvPr id="19" name="Shape 17"/>
          <p:cNvSpPr/>
          <p:nvPr/>
        </p:nvSpPr>
        <p:spPr>
          <a:xfrm>
            <a:off x="4361688" y="4233672"/>
            <a:ext cx="73152" cy="73152"/>
          </a:xfrm>
          <a:prstGeom prst="ellipse">
            <a:avLst/>
          </a:prstGeom>
          <a:solidFill>
            <a:srgbClr val="028090"/>
          </a:solidFill>
          <a:ln/>
        </p:spPr>
      </p:sp>
      <p:sp>
        <p:nvSpPr>
          <p:cNvPr id="20" name="Text 18"/>
          <p:cNvSpPr/>
          <p:nvPr/>
        </p:nvSpPr>
        <p:spPr>
          <a:xfrm>
            <a:off x="4544568" y="4160520"/>
            <a:ext cx="2889504" cy="548640"/>
          </a:xfrm>
          <a:prstGeom prst="rect">
            <a:avLst/>
          </a:prstGeom>
          <a:noFill/>
          <a:ln/>
        </p:spPr>
        <p:txBody>
          <a:bodyPr wrap="square" lIns="0" tIns="0" rIns="0" bIns="0" rtlCol="0" anchor="ctr"/>
          <a:lstStyle/>
          <a:p>
            <a:pPr marL="0" indent="0">
              <a:lnSpc>
                <a:spcPct val="115000"/>
              </a:lnSpc>
              <a:buNone/>
            </a:pPr>
            <a:r>
              <a:rPr lang="en-US" sz="1050" dirty="0">
                <a:solidFill>
                  <a:srgbClr val="1E2622"/>
                </a:solidFill>
                <a:latin typeface="Calibri" pitchFamily="34" charset="0"/>
                <a:ea typeface="Calibri" pitchFamily="34" charset="-122"/>
                <a:cs typeface="Calibri" pitchFamily="34" charset="-120"/>
              </a:rPr>
              <a:t>ISO 45001 certification; zero-accident safety programs</a:t>
            </a:r>
            <a:endParaRPr lang="en-US" sz="1050" dirty="0"/>
          </a:p>
        </p:txBody>
      </p:sp>
      <p:sp>
        <p:nvSpPr>
          <p:cNvPr id="21" name="Shape 19"/>
          <p:cNvSpPr/>
          <p:nvPr/>
        </p:nvSpPr>
        <p:spPr>
          <a:xfrm>
            <a:off x="4361688" y="4855464"/>
            <a:ext cx="73152" cy="73152"/>
          </a:xfrm>
          <a:prstGeom prst="ellipse">
            <a:avLst/>
          </a:prstGeom>
          <a:solidFill>
            <a:srgbClr val="028090"/>
          </a:solidFill>
          <a:ln/>
        </p:spPr>
      </p:sp>
      <p:sp>
        <p:nvSpPr>
          <p:cNvPr id="22" name="Text 20"/>
          <p:cNvSpPr/>
          <p:nvPr/>
        </p:nvSpPr>
        <p:spPr>
          <a:xfrm>
            <a:off x="4544568" y="4782312"/>
            <a:ext cx="2889504" cy="548640"/>
          </a:xfrm>
          <a:prstGeom prst="rect">
            <a:avLst/>
          </a:prstGeom>
          <a:noFill/>
          <a:ln/>
        </p:spPr>
        <p:txBody>
          <a:bodyPr wrap="square" lIns="0" tIns="0" rIns="0" bIns="0" rtlCol="0" anchor="ctr"/>
          <a:lstStyle/>
          <a:p>
            <a:pPr marL="0" indent="0">
              <a:lnSpc>
                <a:spcPct val="115000"/>
              </a:lnSpc>
              <a:buNone/>
            </a:pPr>
            <a:r>
              <a:rPr lang="en-US" sz="1050" dirty="0">
                <a:solidFill>
                  <a:srgbClr val="1E2622"/>
                </a:solidFill>
                <a:latin typeface="Calibri" pitchFamily="34" charset="0"/>
                <a:ea typeface="Calibri" pitchFamily="34" charset="-122"/>
                <a:cs typeface="Calibri" pitchFamily="34" charset="-120"/>
              </a:rPr>
              <a:t>Competitive benefits &amp; career development programs</a:t>
            </a:r>
            <a:endParaRPr lang="en-US" sz="1050" dirty="0"/>
          </a:p>
        </p:txBody>
      </p:sp>
      <p:sp>
        <p:nvSpPr>
          <p:cNvPr id="23" name="Shape 21"/>
          <p:cNvSpPr/>
          <p:nvPr/>
        </p:nvSpPr>
        <p:spPr>
          <a:xfrm>
            <a:off x="4361688" y="5477256"/>
            <a:ext cx="73152" cy="73152"/>
          </a:xfrm>
          <a:prstGeom prst="ellipse">
            <a:avLst/>
          </a:prstGeom>
          <a:solidFill>
            <a:srgbClr val="028090"/>
          </a:solidFill>
          <a:ln/>
        </p:spPr>
      </p:sp>
      <p:sp>
        <p:nvSpPr>
          <p:cNvPr id="24" name="Text 22"/>
          <p:cNvSpPr/>
          <p:nvPr/>
        </p:nvSpPr>
        <p:spPr>
          <a:xfrm>
            <a:off x="4544568" y="5404104"/>
            <a:ext cx="2889504" cy="548640"/>
          </a:xfrm>
          <a:prstGeom prst="rect">
            <a:avLst/>
          </a:prstGeom>
          <a:noFill/>
          <a:ln/>
        </p:spPr>
        <p:txBody>
          <a:bodyPr wrap="square" lIns="0" tIns="0" rIns="0" bIns="0" rtlCol="0" anchor="ctr"/>
          <a:lstStyle/>
          <a:p>
            <a:pPr marL="0" indent="0">
              <a:lnSpc>
                <a:spcPct val="115000"/>
              </a:lnSpc>
              <a:buNone/>
            </a:pPr>
            <a:r>
              <a:rPr lang="en-US" sz="1050" dirty="0">
                <a:solidFill>
                  <a:srgbClr val="1E2622"/>
                </a:solidFill>
                <a:latin typeface="Calibri" pitchFamily="34" charset="0"/>
                <a:ea typeface="Calibri" pitchFamily="34" charset="-122"/>
                <a:cs typeface="Calibri" pitchFamily="34" charset="-120"/>
              </a:rPr>
              <a:t>Biocon Foundation CSR (20 yrs): healthcare, education, rural dev</a:t>
            </a:r>
            <a:endParaRPr lang="en-US" sz="1050" dirty="0"/>
          </a:p>
        </p:txBody>
      </p:sp>
      <p:sp>
        <p:nvSpPr>
          <p:cNvPr id="25" name="Shape 23"/>
          <p:cNvSpPr/>
          <p:nvPr/>
        </p:nvSpPr>
        <p:spPr>
          <a:xfrm>
            <a:off x="7772400" y="2971800"/>
            <a:ext cx="3474720" cy="3200400"/>
          </a:xfrm>
          <a:prstGeom prst="roundRect">
            <a:avLst>
              <a:gd name="adj" fmla="val 2857"/>
            </a:avLst>
          </a:prstGeom>
          <a:solidFill>
            <a:srgbClr val="FFF3E0"/>
          </a:solidFill>
          <a:ln w="12700">
            <a:solidFill>
              <a:srgbClr val="D4E4E0"/>
            </a:solidFill>
            <a:prstDash val="solid"/>
          </a:ln>
        </p:spPr>
      </p:sp>
      <p:sp>
        <p:nvSpPr>
          <p:cNvPr id="26" name="Text 24"/>
          <p:cNvSpPr/>
          <p:nvPr/>
        </p:nvSpPr>
        <p:spPr>
          <a:xfrm>
            <a:off x="7973568" y="3154680"/>
            <a:ext cx="3072384" cy="320040"/>
          </a:xfrm>
          <a:prstGeom prst="rect">
            <a:avLst/>
          </a:prstGeom>
          <a:noFill/>
          <a:ln/>
        </p:spPr>
        <p:txBody>
          <a:bodyPr wrap="square" lIns="0" tIns="0" rIns="0" bIns="0" rtlCol="0" anchor="ctr"/>
          <a:lstStyle/>
          <a:p>
            <a:pPr marL="0" indent="0">
              <a:buNone/>
            </a:pPr>
            <a:r>
              <a:rPr lang="en-US" sz="1200" b="1" kern="0" spc="120" dirty="0">
                <a:solidFill>
                  <a:srgbClr val="E65100"/>
                </a:solidFill>
                <a:latin typeface="Calibri" pitchFamily="34" charset="0"/>
                <a:ea typeface="Calibri" pitchFamily="34" charset="-122"/>
                <a:cs typeface="Calibri" pitchFamily="34" charset="-120"/>
              </a:rPr>
              <a:t>ONGOING GAPS</a:t>
            </a:r>
            <a:endParaRPr lang="en-US" sz="1200" dirty="0"/>
          </a:p>
        </p:txBody>
      </p:sp>
      <p:sp>
        <p:nvSpPr>
          <p:cNvPr id="27" name="Shape 25"/>
          <p:cNvSpPr/>
          <p:nvPr/>
        </p:nvSpPr>
        <p:spPr>
          <a:xfrm>
            <a:off x="7973568" y="3611880"/>
            <a:ext cx="73152" cy="73152"/>
          </a:xfrm>
          <a:prstGeom prst="ellipse">
            <a:avLst/>
          </a:prstGeom>
          <a:solidFill>
            <a:srgbClr val="E65100"/>
          </a:solidFill>
          <a:ln/>
        </p:spPr>
      </p:sp>
      <p:sp>
        <p:nvSpPr>
          <p:cNvPr id="28" name="Text 26"/>
          <p:cNvSpPr/>
          <p:nvPr/>
        </p:nvSpPr>
        <p:spPr>
          <a:xfrm>
            <a:off x="8156448" y="3538728"/>
            <a:ext cx="2889504" cy="548640"/>
          </a:xfrm>
          <a:prstGeom prst="rect">
            <a:avLst/>
          </a:prstGeom>
          <a:noFill/>
          <a:ln/>
        </p:spPr>
        <p:txBody>
          <a:bodyPr wrap="square" lIns="0" tIns="0" rIns="0" bIns="0" rtlCol="0" anchor="ctr"/>
          <a:lstStyle/>
          <a:p>
            <a:pPr marL="0" indent="0">
              <a:lnSpc>
                <a:spcPct val="115000"/>
              </a:lnSpc>
              <a:buNone/>
            </a:pPr>
            <a:r>
              <a:rPr lang="en-US" sz="1050" dirty="0">
                <a:solidFill>
                  <a:srgbClr val="1E2622"/>
                </a:solidFill>
                <a:latin typeface="Calibri" pitchFamily="34" charset="0"/>
                <a:ea typeface="Calibri" pitchFamily="34" charset="-122"/>
                <a:cs typeface="Calibri" pitchFamily="34" charset="-120"/>
              </a:rPr>
              <a:t>Gender parity in STEM remains below peer averages (target setting needed)</a:t>
            </a:r>
            <a:endParaRPr lang="en-US" sz="1050" dirty="0"/>
          </a:p>
        </p:txBody>
      </p:sp>
      <p:sp>
        <p:nvSpPr>
          <p:cNvPr id="29" name="Shape 27"/>
          <p:cNvSpPr/>
          <p:nvPr/>
        </p:nvSpPr>
        <p:spPr>
          <a:xfrm>
            <a:off x="7973568" y="4233672"/>
            <a:ext cx="73152" cy="73152"/>
          </a:xfrm>
          <a:prstGeom prst="ellipse">
            <a:avLst/>
          </a:prstGeom>
          <a:solidFill>
            <a:srgbClr val="E65100"/>
          </a:solidFill>
          <a:ln/>
        </p:spPr>
      </p:sp>
      <p:sp>
        <p:nvSpPr>
          <p:cNvPr id="30" name="Text 28"/>
          <p:cNvSpPr/>
          <p:nvPr/>
        </p:nvSpPr>
        <p:spPr>
          <a:xfrm>
            <a:off x="8156448" y="4160520"/>
            <a:ext cx="2889504" cy="548640"/>
          </a:xfrm>
          <a:prstGeom prst="rect">
            <a:avLst/>
          </a:prstGeom>
          <a:noFill/>
          <a:ln/>
        </p:spPr>
        <p:txBody>
          <a:bodyPr wrap="square" lIns="0" tIns="0" rIns="0" bIns="0" rtlCol="0" anchor="ctr"/>
          <a:lstStyle/>
          <a:p>
            <a:pPr marL="0" indent="0">
              <a:lnSpc>
                <a:spcPct val="115000"/>
              </a:lnSpc>
              <a:buNone/>
            </a:pPr>
            <a:r>
              <a:rPr lang="en-US" sz="1050" dirty="0">
                <a:solidFill>
                  <a:srgbClr val="1E2622"/>
                </a:solidFill>
                <a:latin typeface="Calibri" pitchFamily="34" charset="0"/>
                <a:ea typeface="Calibri" pitchFamily="34" charset="-122"/>
                <a:cs typeface="Calibri" pitchFamily="34" charset="-120"/>
              </a:rPr>
              <a:t>Supply chain labor practices less transparent than direct workforce</a:t>
            </a:r>
            <a:endParaRPr lang="en-US" sz="1050" dirty="0"/>
          </a:p>
        </p:txBody>
      </p:sp>
      <p:sp>
        <p:nvSpPr>
          <p:cNvPr id="31" name="Shape 29"/>
          <p:cNvSpPr/>
          <p:nvPr/>
        </p:nvSpPr>
        <p:spPr>
          <a:xfrm>
            <a:off x="7973568" y="4855464"/>
            <a:ext cx="73152" cy="73152"/>
          </a:xfrm>
          <a:prstGeom prst="ellipse">
            <a:avLst/>
          </a:prstGeom>
          <a:solidFill>
            <a:srgbClr val="E65100"/>
          </a:solidFill>
          <a:ln/>
        </p:spPr>
      </p:sp>
      <p:sp>
        <p:nvSpPr>
          <p:cNvPr id="32" name="Text 30"/>
          <p:cNvSpPr/>
          <p:nvPr/>
        </p:nvSpPr>
        <p:spPr>
          <a:xfrm>
            <a:off x="8156448" y="4782312"/>
            <a:ext cx="2889504" cy="548640"/>
          </a:xfrm>
          <a:prstGeom prst="rect">
            <a:avLst/>
          </a:prstGeom>
          <a:noFill/>
          <a:ln/>
        </p:spPr>
        <p:txBody>
          <a:bodyPr wrap="square" lIns="0" tIns="0" rIns="0" bIns="0" rtlCol="0" anchor="ctr"/>
          <a:lstStyle/>
          <a:p>
            <a:pPr marL="0" indent="0">
              <a:lnSpc>
                <a:spcPct val="115000"/>
              </a:lnSpc>
              <a:buNone/>
            </a:pPr>
            <a:r>
              <a:rPr lang="en-US" sz="1050" dirty="0">
                <a:solidFill>
                  <a:srgbClr val="1E2622"/>
                </a:solidFill>
                <a:latin typeface="Calibri" pitchFamily="34" charset="0"/>
                <a:ea typeface="Calibri" pitchFamily="34" charset="-122"/>
                <a:cs typeface="Calibri" pitchFamily="34" charset="-120"/>
              </a:rPr>
              <a:t>Community engagement on water rights/allocation remains nascent</a:t>
            </a:r>
            <a:endParaRPr lang="en-US" sz="1050" dirty="0"/>
          </a:p>
        </p:txBody>
      </p:sp>
      <p:sp>
        <p:nvSpPr>
          <p:cNvPr id="33" name="Shape 31"/>
          <p:cNvSpPr/>
          <p:nvPr/>
        </p:nvSpPr>
        <p:spPr>
          <a:xfrm>
            <a:off x="7973568" y="5477256"/>
            <a:ext cx="73152" cy="73152"/>
          </a:xfrm>
          <a:prstGeom prst="ellipse">
            <a:avLst/>
          </a:prstGeom>
          <a:solidFill>
            <a:srgbClr val="E65100"/>
          </a:solidFill>
          <a:ln/>
        </p:spPr>
      </p:sp>
      <p:sp>
        <p:nvSpPr>
          <p:cNvPr id="34" name="Text 32"/>
          <p:cNvSpPr/>
          <p:nvPr/>
        </p:nvSpPr>
        <p:spPr>
          <a:xfrm>
            <a:off x="8156448" y="5404104"/>
            <a:ext cx="2889504" cy="548640"/>
          </a:xfrm>
          <a:prstGeom prst="rect">
            <a:avLst/>
          </a:prstGeom>
          <a:noFill/>
          <a:ln/>
        </p:spPr>
        <p:txBody>
          <a:bodyPr wrap="square" lIns="0" tIns="0" rIns="0" bIns="0" rtlCol="0" anchor="ctr"/>
          <a:lstStyle/>
          <a:p>
            <a:pPr marL="0" indent="0">
              <a:lnSpc>
                <a:spcPct val="115000"/>
              </a:lnSpc>
              <a:buNone/>
            </a:pPr>
            <a:r>
              <a:rPr lang="en-US" sz="1050" dirty="0">
                <a:solidFill>
                  <a:srgbClr val="1E2622"/>
                </a:solidFill>
                <a:latin typeface="Calibri" pitchFamily="34" charset="0"/>
                <a:ea typeface="Calibri" pitchFamily="34" charset="-122"/>
                <a:cs typeface="Calibri" pitchFamily="34" charset="-120"/>
              </a:rPr>
              <a:t>Pay equity audits &amp; public disclosure not yet standard</a:t>
            </a:r>
            <a:endParaRPr lang="en-US" sz="1050" dirty="0"/>
          </a:p>
        </p:txBody>
      </p:sp>
      <p:sp>
        <p:nvSpPr>
          <p:cNvPr id="35" name="Text 33"/>
          <p:cNvSpPr/>
          <p:nvPr/>
        </p:nvSpPr>
        <p:spPr>
          <a:xfrm>
            <a:off x="11475720" y="6473952"/>
            <a:ext cx="548640" cy="274320"/>
          </a:xfrm>
          <a:prstGeom prst="rect">
            <a:avLst/>
          </a:prstGeom>
          <a:noFill/>
          <a:ln/>
        </p:spPr>
        <p:txBody>
          <a:bodyPr wrap="square" lIns="0" tIns="0" rIns="0" bIns="0" rtlCol="0" anchor="ctr"/>
          <a:lstStyle/>
          <a:p>
            <a:pPr marL="0" indent="0" algn="r">
              <a:buNone/>
            </a:pPr>
            <a:r>
              <a:rPr lang="en-US" sz="1000" dirty="0">
                <a:solidFill>
                  <a:srgbClr val="6B7B79"/>
                </a:solidFill>
                <a:latin typeface="Calibri" pitchFamily="34" charset="0"/>
                <a:ea typeface="Calibri" pitchFamily="34" charset="-122"/>
                <a:cs typeface="Calibri" pitchFamily="34" charset="-120"/>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marL="0" indent="0">
              <a:buNone/>
            </a:pPr>
            <a:r>
              <a:rPr lang="en-US" sz="1200" b="1" kern="0" spc="200" dirty="0">
                <a:solidFill>
                  <a:srgbClr val="028090"/>
                </a:solidFill>
                <a:latin typeface="Calibri" pitchFamily="34" charset="0"/>
                <a:ea typeface="Calibri" pitchFamily="34" charset="-122"/>
                <a:cs typeface="Calibri" pitchFamily="34" charset="-120"/>
              </a:rPr>
              <a:t>ESG PROGRESS</a:t>
            </a:r>
            <a:endParaRPr lang="en-US" sz="1200" dirty="0"/>
          </a:p>
        </p:txBody>
      </p:sp>
      <p:sp>
        <p:nvSpPr>
          <p:cNvPr id="3" name="Text 1"/>
          <p:cNvSpPr/>
          <p:nvPr/>
        </p:nvSpPr>
        <p:spPr>
          <a:xfrm>
            <a:off x="548640" y="777240"/>
            <a:ext cx="10515600" cy="914400"/>
          </a:xfrm>
          <a:prstGeom prst="rect">
            <a:avLst/>
          </a:prstGeom>
          <a:noFill/>
          <a:ln/>
        </p:spPr>
        <p:txBody>
          <a:bodyPr wrap="square" lIns="0" tIns="0" rIns="0" bIns="0" rtlCol="0" anchor="ctr"/>
          <a:lstStyle/>
          <a:p>
            <a:pPr marL="0" indent="0">
              <a:buNone/>
            </a:pPr>
            <a:r>
              <a:rPr lang="en-US" sz="3200" b="1" dirty="0">
                <a:solidFill>
                  <a:srgbClr val="1E2622"/>
                </a:solidFill>
                <a:latin typeface="Cambria" pitchFamily="34" charset="0"/>
                <a:ea typeface="Cambria" pitchFamily="34" charset="-122"/>
                <a:cs typeface="Cambria" pitchFamily="34" charset="-120"/>
              </a:rPr>
              <a:t>Measuring Progress: ESG Ratings &amp; Certifications</a:t>
            </a:r>
            <a:endParaRPr lang="en-US" sz="3200" dirty="0"/>
          </a:p>
        </p:txBody>
      </p:sp>
      <p:sp>
        <p:nvSpPr>
          <p:cNvPr id="4" name="Text 2"/>
          <p:cNvSpPr/>
          <p:nvPr/>
        </p:nvSpPr>
        <p:spPr>
          <a:xfrm>
            <a:off x="548640" y="1600200"/>
            <a:ext cx="10881360" cy="822960"/>
          </a:xfrm>
          <a:prstGeom prst="rect">
            <a:avLst/>
          </a:prstGeom>
          <a:noFill/>
          <a:ln/>
        </p:spPr>
        <p:txBody>
          <a:bodyPr wrap="square" lIns="0" tIns="0" rIns="0" bIns="0" rtlCol="0" anchor="ctr"/>
          <a:lstStyle/>
          <a:p>
            <a:pPr marL="0" indent="0">
              <a:lnSpc>
                <a:spcPct val="120000"/>
              </a:lnSpc>
              <a:buNone/>
            </a:pPr>
            <a:r>
              <a:rPr lang="en-US" sz="1300" dirty="0">
                <a:solidFill>
                  <a:srgbClr val="1E2622"/>
                </a:solidFill>
                <a:latin typeface="Calibri" pitchFamily="34" charset="0"/>
                <a:ea typeface="Calibri" pitchFamily="34" charset="-122"/>
                <a:cs typeface="Calibri" pitchFamily="34" charset="-120"/>
              </a:rPr>
              <a:t>Biocon has made measurable ESG progress, evidenced by improved ratings. However, transparency gaps remain in supply-chain labor practices, community consultation on water rights, and long-term sustainability pathway clarity.</a:t>
            </a:r>
            <a:endParaRPr lang="en-US" sz="1300" dirty="0"/>
          </a:p>
        </p:txBody>
      </p:sp>
      <p:sp>
        <p:nvSpPr>
          <p:cNvPr id="5" name="Shape 3"/>
          <p:cNvSpPr/>
          <p:nvPr/>
        </p:nvSpPr>
        <p:spPr>
          <a:xfrm>
            <a:off x="548640" y="2606040"/>
            <a:ext cx="1554480" cy="3200400"/>
          </a:xfrm>
          <a:prstGeom prst="roundRect">
            <a:avLst>
              <a:gd name="adj" fmla="val 5882"/>
            </a:avLst>
          </a:prstGeom>
          <a:solidFill>
            <a:srgbClr val="F0F7F6"/>
          </a:solidFill>
          <a:ln w="12700">
            <a:solidFill>
              <a:srgbClr val="A8CFCA"/>
            </a:solidFill>
            <a:prstDash val="solid"/>
          </a:ln>
        </p:spPr>
      </p:sp>
      <p:sp>
        <p:nvSpPr>
          <p:cNvPr id="6" name="Text 4"/>
          <p:cNvSpPr/>
          <p:nvPr/>
        </p:nvSpPr>
        <p:spPr>
          <a:xfrm>
            <a:off x="685800" y="2971800"/>
            <a:ext cx="1280160" cy="457200"/>
          </a:xfrm>
          <a:prstGeom prst="rect">
            <a:avLst/>
          </a:prstGeom>
          <a:noFill/>
          <a:ln/>
        </p:spPr>
        <p:txBody>
          <a:bodyPr wrap="square" lIns="0" tIns="0" rIns="0" bIns="0" rtlCol="0" anchor="ctr"/>
          <a:lstStyle/>
          <a:p>
            <a:pPr marL="0" indent="0" algn="ctr">
              <a:buNone/>
            </a:pPr>
            <a:r>
              <a:rPr lang="en-US" sz="1200" b="1" dirty="0">
                <a:solidFill>
                  <a:srgbClr val="028090"/>
                </a:solidFill>
                <a:latin typeface="Calibri" pitchFamily="34" charset="0"/>
                <a:ea typeface="Calibri" pitchFamily="34" charset="-122"/>
                <a:cs typeface="Calibri" pitchFamily="34" charset="-120"/>
              </a:rPr>
              <a:t>Environmental</a:t>
            </a:r>
            <a:endParaRPr lang="en-US" sz="1200" dirty="0"/>
          </a:p>
        </p:txBody>
      </p:sp>
      <p:sp>
        <p:nvSpPr>
          <p:cNvPr id="7" name="Text 5"/>
          <p:cNvSpPr/>
          <p:nvPr/>
        </p:nvSpPr>
        <p:spPr>
          <a:xfrm>
            <a:off x="685800" y="3703320"/>
            <a:ext cx="1280160" cy="731520"/>
          </a:xfrm>
          <a:prstGeom prst="rect">
            <a:avLst/>
          </a:prstGeom>
          <a:noFill/>
          <a:ln/>
        </p:spPr>
        <p:txBody>
          <a:bodyPr wrap="square" lIns="0" tIns="0" rIns="0" bIns="0" rtlCol="0" anchor="ctr"/>
          <a:lstStyle/>
          <a:p>
            <a:pPr marL="0" indent="0" algn="ctr">
              <a:buNone/>
            </a:pPr>
            <a:r>
              <a:rPr lang="en-US" sz="2800" b="1" dirty="0">
                <a:solidFill>
                  <a:srgbClr val="028090"/>
                </a:solidFill>
                <a:latin typeface="Cambria" pitchFamily="34" charset="0"/>
                <a:ea typeface="Cambria" pitchFamily="34" charset="-122"/>
                <a:cs typeface="Cambria" pitchFamily="34" charset="-120"/>
              </a:rPr>
              <a:t>76/100</a:t>
            </a:r>
            <a:endParaRPr lang="en-US" sz="2800" dirty="0"/>
          </a:p>
        </p:txBody>
      </p:sp>
      <p:sp>
        <p:nvSpPr>
          <p:cNvPr id="8" name="Text 6"/>
          <p:cNvSpPr/>
          <p:nvPr/>
        </p:nvSpPr>
        <p:spPr>
          <a:xfrm>
            <a:off x="685800" y="4526280"/>
            <a:ext cx="1280160" cy="320040"/>
          </a:xfrm>
          <a:prstGeom prst="rect">
            <a:avLst/>
          </a:prstGeom>
          <a:noFill/>
          <a:ln/>
        </p:spPr>
        <p:txBody>
          <a:bodyPr wrap="square" lIns="0" tIns="0" rIns="0" bIns="0" rtlCol="0" anchor="ctr"/>
          <a:lstStyle/>
          <a:p>
            <a:pPr marL="0" indent="0" algn="ctr">
              <a:buNone/>
            </a:pPr>
            <a:r>
              <a:rPr lang="en-US" sz="900" i="1" dirty="0">
                <a:solidFill>
                  <a:srgbClr val="6B7B79"/>
                </a:solidFill>
                <a:latin typeface="Calibri" pitchFamily="34" charset="0"/>
                <a:ea typeface="Calibri" pitchFamily="34" charset="-122"/>
                <a:cs typeface="Calibri" pitchFamily="34" charset="-120"/>
              </a:rPr>
              <a:t>S&amp;P Global</a:t>
            </a:r>
            <a:endParaRPr lang="en-US" sz="900" dirty="0"/>
          </a:p>
        </p:txBody>
      </p:sp>
      <p:sp>
        <p:nvSpPr>
          <p:cNvPr id="9" name="Text 7"/>
          <p:cNvSpPr/>
          <p:nvPr/>
        </p:nvSpPr>
        <p:spPr>
          <a:xfrm>
            <a:off x="685800" y="4846320"/>
            <a:ext cx="1280160" cy="274320"/>
          </a:xfrm>
          <a:prstGeom prst="rect">
            <a:avLst/>
          </a:prstGeom>
          <a:noFill/>
          <a:ln/>
        </p:spPr>
        <p:txBody>
          <a:bodyPr wrap="square" lIns="0" tIns="0" rIns="0" bIns="0" rtlCol="0" anchor="ctr"/>
          <a:lstStyle/>
          <a:p>
            <a:pPr marL="0" indent="0" algn="ctr">
              <a:buNone/>
            </a:pPr>
            <a:r>
              <a:rPr lang="en-US" sz="900" i="1" dirty="0">
                <a:solidFill>
                  <a:srgbClr val="6B7B79"/>
                </a:solidFill>
                <a:latin typeface="Calibri" pitchFamily="34" charset="0"/>
                <a:ea typeface="Calibri" pitchFamily="34" charset="-122"/>
                <a:cs typeface="Calibri" pitchFamily="34" charset="-120"/>
              </a:rPr>
              <a:t>2024</a:t>
            </a:r>
            <a:endParaRPr lang="en-US" sz="900" dirty="0"/>
          </a:p>
        </p:txBody>
      </p:sp>
      <p:sp>
        <p:nvSpPr>
          <p:cNvPr id="10" name="Shape 8"/>
          <p:cNvSpPr/>
          <p:nvPr/>
        </p:nvSpPr>
        <p:spPr>
          <a:xfrm>
            <a:off x="2240280" y="2606040"/>
            <a:ext cx="1554480" cy="3200400"/>
          </a:xfrm>
          <a:prstGeom prst="roundRect">
            <a:avLst>
              <a:gd name="adj" fmla="val 5882"/>
            </a:avLst>
          </a:prstGeom>
          <a:solidFill>
            <a:srgbClr val="F0F7F6"/>
          </a:solidFill>
          <a:ln w="12700">
            <a:solidFill>
              <a:srgbClr val="A8CFCA"/>
            </a:solidFill>
            <a:prstDash val="solid"/>
          </a:ln>
        </p:spPr>
      </p:sp>
      <p:sp>
        <p:nvSpPr>
          <p:cNvPr id="11" name="Text 9"/>
          <p:cNvSpPr/>
          <p:nvPr/>
        </p:nvSpPr>
        <p:spPr>
          <a:xfrm>
            <a:off x="2377440" y="2971800"/>
            <a:ext cx="1280160" cy="457200"/>
          </a:xfrm>
          <a:prstGeom prst="rect">
            <a:avLst/>
          </a:prstGeom>
          <a:noFill/>
          <a:ln/>
        </p:spPr>
        <p:txBody>
          <a:bodyPr wrap="square" lIns="0" tIns="0" rIns="0" bIns="0" rtlCol="0" anchor="ctr"/>
          <a:lstStyle/>
          <a:p>
            <a:pPr marL="0" indent="0" algn="ctr">
              <a:buNone/>
            </a:pPr>
            <a:r>
              <a:rPr lang="en-US" sz="1200" b="1" dirty="0">
                <a:solidFill>
                  <a:srgbClr val="028090"/>
                </a:solidFill>
                <a:latin typeface="Calibri" pitchFamily="34" charset="0"/>
                <a:ea typeface="Calibri" pitchFamily="34" charset="-122"/>
                <a:cs typeface="Calibri" pitchFamily="34" charset="-120"/>
              </a:rPr>
              <a:t>Social</a:t>
            </a:r>
            <a:endParaRPr lang="en-US" sz="1200" dirty="0"/>
          </a:p>
        </p:txBody>
      </p:sp>
      <p:sp>
        <p:nvSpPr>
          <p:cNvPr id="12" name="Text 10"/>
          <p:cNvSpPr/>
          <p:nvPr/>
        </p:nvSpPr>
        <p:spPr>
          <a:xfrm>
            <a:off x="2377440" y="3703320"/>
            <a:ext cx="1280160" cy="731520"/>
          </a:xfrm>
          <a:prstGeom prst="rect">
            <a:avLst/>
          </a:prstGeom>
          <a:noFill/>
          <a:ln/>
        </p:spPr>
        <p:txBody>
          <a:bodyPr wrap="square" lIns="0" tIns="0" rIns="0" bIns="0" rtlCol="0" anchor="ctr"/>
          <a:lstStyle/>
          <a:p>
            <a:pPr marL="0" indent="0" algn="ctr">
              <a:buNone/>
            </a:pPr>
            <a:r>
              <a:rPr lang="en-US" sz="2800" b="1" dirty="0">
                <a:solidFill>
                  <a:srgbClr val="028090"/>
                </a:solidFill>
                <a:latin typeface="Cambria" pitchFamily="34" charset="0"/>
                <a:ea typeface="Cambria" pitchFamily="34" charset="-122"/>
                <a:cs typeface="Cambria" pitchFamily="34" charset="-120"/>
              </a:rPr>
              <a:t>74/100</a:t>
            </a:r>
            <a:endParaRPr lang="en-US" sz="2800" dirty="0"/>
          </a:p>
        </p:txBody>
      </p:sp>
      <p:sp>
        <p:nvSpPr>
          <p:cNvPr id="13" name="Text 11"/>
          <p:cNvSpPr/>
          <p:nvPr/>
        </p:nvSpPr>
        <p:spPr>
          <a:xfrm>
            <a:off x="2377440" y="4526280"/>
            <a:ext cx="1280160" cy="320040"/>
          </a:xfrm>
          <a:prstGeom prst="rect">
            <a:avLst/>
          </a:prstGeom>
          <a:noFill/>
          <a:ln/>
        </p:spPr>
        <p:txBody>
          <a:bodyPr wrap="square" lIns="0" tIns="0" rIns="0" bIns="0" rtlCol="0" anchor="ctr"/>
          <a:lstStyle/>
          <a:p>
            <a:pPr marL="0" indent="0" algn="ctr">
              <a:buNone/>
            </a:pPr>
            <a:r>
              <a:rPr lang="en-US" sz="900" i="1" dirty="0">
                <a:solidFill>
                  <a:srgbClr val="6B7B79"/>
                </a:solidFill>
                <a:latin typeface="Calibri" pitchFamily="34" charset="0"/>
                <a:ea typeface="Calibri" pitchFamily="34" charset="-122"/>
                <a:cs typeface="Calibri" pitchFamily="34" charset="-120"/>
              </a:rPr>
              <a:t>S&amp;P Global</a:t>
            </a:r>
            <a:endParaRPr lang="en-US" sz="900" dirty="0"/>
          </a:p>
        </p:txBody>
      </p:sp>
      <p:sp>
        <p:nvSpPr>
          <p:cNvPr id="14" name="Text 12"/>
          <p:cNvSpPr/>
          <p:nvPr/>
        </p:nvSpPr>
        <p:spPr>
          <a:xfrm>
            <a:off x="2377440" y="4846320"/>
            <a:ext cx="1280160" cy="274320"/>
          </a:xfrm>
          <a:prstGeom prst="rect">
            <a:avLst/>
          </a:prstGeom>
          <a:noFill/>
          <a:ln/>
        </p:spPr>
        <p:txBody>
          <a:bodyPr wrap="square" lIns="0" tIns="0" rIns="0" bIns="0" rtlCol="0" anchor="ctr"/>
          <a:lstStyle/>
          <a:p>
            <a:pPr marL="0" indent="0" algn="ctr">
              <a:buNone/>
            </a:pPr>
            <a:r>
              <a:rPr lang="en-US" sz="900" i="1" dirty="0">
                <a:solidFill>
                  <a:srgbClr val="6B7B79"/>
                </a:solidFill>
                <a:latin typeface="Calibri" pitchFamily="34" charset="0"/>
                <a:ea typeface="Calibri" pitchFamily="34" charset="-122"/>
                <a:cs typeface="Calibri" pitchFamily="34" charset="-120"/>
              </a:rPr>
              <a:t>2024</a:t>
            </a:r>
            <a:endParaRPr lang="en-US" sz="900" dirty="0"/>
          </a:p>
        </p:txBody>
      </p:sp>
      <p:sp>
        <p:nvSpPr>
          <p:cNvPr id="15" name="Shape 13"/>
          <p:cNvSpPr/>
          <p:nvPr/>
        </p:nvSpPr>
        <p:spPr>
          <a:xfrm>
            <a:off x="3931920" y="2606040"/>
            <a:ext cx="1554480" cy="3200400"/>
          </a:xfrm>
          <a:prstGeom prst="roundRect">
            <a:avLst>
              <a:gd name="adj" fmla="val 5882"/>
            </a:avLst>
          </a:prstGeom>
          <a:solidFill>
            <a:srgbClr val="F0F7F6"/>
          </a:solidFill>
          <a:ln w="12700">
            <a:solidFill>
              <a:srgbClr val="A8CFCA"/>
            </a:solidFill>
            <a:prstDash val="solid"/>
          </a:ln>
        </p:spPr>
      </p:sp>
      <p:sp>
        <p:nvSpPr>
          <p:cNvPr id="16" name="Text 14"/>
          <p:cNvSpPr/>
          <p:nvPr/>
        </p:nvSpPr>
        <p:spPr>
          <a:xfrm>
            <a:off x="4069080" y="2971800"/>
            <a:ext cx="1280160" cy="457200"/>
          </a:xfrm>
          <a:prstGeom prst="rect">
            <a:avLst/>
          </a:prstGeom>
          <a:noFill/>
          <a:ln/>
        </p:spPr>
        <p:txBody>
          <a:bodyPr wrap="square" lIns="0" tIns="0" rIns="0" bIns="0" rtlCol="0" anchor="ctr"/>
          <a:lstStyle/>
          <a:p>
            <a:pPr marL="0" indent="0" algn="ctr">
              <a:buNone/>
            </a:pPr>
            <a:r>
              <a:rPr lang="en-US" sz="1200" b="1" dirty="0">
                <a:solidFill>
                  <a:srgbClr val="028090"/>
                </a:solidFill>
                <a:latin typeface="Calibri" pitchFamily="34" charset="0"/>
                <a:ea typeface="Calibri" pitchFamily="34" charset="-122"/>
                <a:cs typeface="Calibri" pitchFamily="34" charset="-120"/>
              </a:rPr>
              <a:t>Governance</a:t>
            </a:r>
            <a:endParaRPr lang="en-US" sz="1200" dirty="0"/>
          </a:p>
        </p:txBody>
      </p:sp>
      <p:sp>
        <p:nvSpPr>
          <p:cNvPr id="17" name="Text 15"/>
          <p:cNvSpPr/>
          <p:nvPr/>
        </p:nvSpPr>
        <p:spPr>
          <a:xfrm>
            <a:off x="4069080" y="3703320"/>
            <a:ext cx="1280160" cy="731520"/>
          </a:xfrm>
          <a:prstGeom prst="rect">
            <a:avLst/>
          </a:prstGeom>
          <a:noFill/>
          <a:ln/>
        </p:spPr>
        <p:txBody>
          <a:bodyPr wrap="square" lIns="0" tIns="0" rIns="0" bIns="0" rtlCol="0" anchor="ctr"/>
          <a:lstStyle/>
          <a:p>
            <a:pPr marL="0" indent="0" algn="ctr">
              <a:buNone/>
            </a:pPr>
            <a:r>
              <a:rPr lang="en-US" sz="2800" b="1" dirty="0">
                <a:solidFill>
                  <a:srgbClr val="028090"/>
                </a:solidFill>
                <a:latin typeface="Cambria" pitchFamily="34" charset="0"/>
                <a:ea typeface="Cambria" pitchFamily="34" charset="-122"/>
                <a:cs typeface="Cambria" pitchFamily="34" charset="-120"/>
              </a:rPr>
              <a:t>62/100</a:t>
            </a:r>
            <a:endParaRPr lang="en-US" sz="2800" dirty="0"/>
          </a:p>
        </p:txBody>
      </p:sp>
      <p:sp>
        <p:nvSpPr>
          <p:cNvPr id="18" name="Text 16"/>
          <p:cNvSpPr/>
          <p:nvPr/>
        </p:nvSpPr>
        <p:spPr>
          <a:xfrm>
            <a:off x="4069080" y="4526280"/>
            <a:ext cx="1280160" cy="320040"/>
          </a:xfrm>
          <a:prstGeom prst="rect">
            <a:avLst/>
          </a:prstGeom>
          <a:noFill/>
          <a:ln/>
        </p:spPr>
        <p:txBody>
          <a:bodyPr wrap="square" lIns="0" tIns="0" rIns="0" bIns="0" rtlCol="0" anchor="ctr"/>
          <a:lstStyle/>
          <a:p>
            <a:pPr marL="0" indent="0" algn="ctr">
              <a:buNone/>
            </a:pPr>
            <a:r>
              <a:rPr lang="en-US" sz="900" i="1" dirty="0">
                <a:solidFill>
                  <a:srgbClr val="6B7B79"/>
                </a:solidFill>
                <a:latin typeface="Calibri" pitchFamily="34" charset="0"/>
                <a:ea typeface="Calibri" pitchFamily="34" charset="-122"/>
                <a:cs typeface="Calibri" pitchFamily="34" charset="-120"/>
              </a:rPr>
              <a:t>S&amp;P Global</a:t>
            </a:r>
            <a:endParaRPr lang="en-US" sz="900" dirty="0"/>
          </a:p>
        </p:txBody>
      </p:sp>
      <p:sp>
        <p:nvSpPr>
          <p:cNvPr id="19" name="Text 17"/>
          <p:cNvSpPr/>
          <p:nvPr/>
        </p:nvSpPr>
        <p:spPr>
          <a:xfrm>
            <a:off x="4069080" y="4846320"/>
            <a:ext cx="1280160" cy="274320"/>
          </a:xfrm>
          <a:prstGeom prst="rect">
            <a:avLst/>
          </a:prstGeom>
          <a:noFill/>
          <a:ln/>
        </p:spPr>
        <p:txBody>
          <a:bodyPr wrap="square" lIns="0" tIns="0" rIns="0" bIns="0" rtlCol="0" anchor="ctr"/>
          <a:lstStyle/>
          <a:p>
            <a:pPr marL="0" indent="0" algn="ctr">
              <a:buNone/>
            </a:pPr>
            <a:r>
              <a:rPr lang="en-US" sz="900" i="1" dirty="0">
                <a:solidFill>
                  <a:srgbClr val="6B7B79"/>
                </a:solidFill>
                <a:latin typeface="Calibri" pitchFamily="34" charset="0"/>
                <a:ea typeface="Calibri" pitchFamily="34" charset="-122"/>
                <a:cs typeface="Calibri" pitchFamily="34" charset="-120"/>
              </a:rPr>
              <a:t>2024</a:t>
            </a:r>
            <a:endParaRPr lang="en-US" sz="900" dirty="0"/>
          </a:p>
        </p:txBody>
      </p:sp>
      <p:sp>
        <p:nvSpPr>
          <p:cNvPr id="20" name="Text 18"/>
          <p:cNvSpPr/>
          <p:nvPr/>
        </p:nvSpPr>
        <p:spPr>
          <a:xfrm>
            <a:off x="548640" y="5989320"/>
            <a:ext cx="4846320" cy="274320"/>
          </a:xfrm>
          <a:prstGeom prst="rect">
            <a:avLst/>
          </a:prstGeom>
          <a:noFill/>
          <a:ln/>
        </p:spPr>
        <p:txBody>
          <a:bodyPr wrap="square" lIns="0" tIns="0" rIns="0" bIns="0" rtlCol="0" anchor="ctr"/>
          <a:lstStyle/>
          <a:p>
            <a:pPr marL="0" indent="0" algn="ctr">
              <a:buNone/>
            </a:pPr>
            <a:r>
              <a:rPr lang="en-US" sz="1100" i="1" dirty="0">
                <a:solidFill>
                  <a:srgbClr val="028090"/>
                </a:solidFill>
                <a:latin typeface="Calibri" pitchFamily="34" charset="0"/>
                <a:ea typeface="Calibri" pitchFamily="34" charset="-122"/>
                <a:cs typeface="Calibri" pitchFamily="34" charset="-120"/>
              </a:rPr>
              <a:t>98th Percentile Among Biotech Peers</a:t>
            </a:r>
            <a:endParaRPr lang="en-US" sz="1100" dirty="0"/>
          </a:p>
        </p:txBody>
      </p:sp>
      <p:sp>
        <p:nvSpPr>
          <p:cNvPr id="21" name="Shape 19"/>
          <p:cNvSpPr/>
          <p:nvPr/>
        </p:nvSpPr>
        <p:spPr>
          <a:xfrm>
            <a:off x="5577840" y="2606040"/>
            <a:ext cx="5303520" cy="3200400"/>
          </a:xfrm>
          <a:prstGeom prst="roundRect">
            <a:avLst>
              <a:gd name="adj" fmla="val 2857"/>
            </a:avLst>
          </a:prstGeom>
          <a:solidFill>
            <a:srgbClr val="F0F7F6"/>
          </a:solidFill>
          <a:ln w="12700">
            <a:solidFill>
              <a:srgbClr val="A8CFCA"/>
            </a:solidFill>
            <a:prstDash val="solid"/>
          </a:ln>
        </p:spPr>
      </p:sp>
      <p:sp>
        <p:nvSpPr>
          <p:cNvPr id="22" name="Text 20"/>
          <p:cNvSpPr/>
          <p:nvPr/>
        </p:nvSpPr>
        <p:spPr>
          <a:xfrm>
            <a:off x="5806440" y="2788920"/>
            <a:ext cx="4846320" cy="320040"/>
          </a:xfrm>
          <a:prstGeom prst="rect">
            <a:avLst/>
          </a:prstGeom>
          <a:noFill/>
          <a:ln/>
        </p:spPr>
        <p:txBody>
          <a:bodyPr wrap="square" lIns="0" tIns="0" rIns="0" bIns="0" rtlCol="0" anchor="ctr"/>
          <a:lstStyle/>
          <a:p>
            <a:pPr marL="0" indent="0">
              <a:buNone/>
            </a:pPr>
            <a:r>
              <a:rPr lang="en-US" sz="1200" b="1" kern="0" spc="120" dirty="0">
                <a:solidFill>
                  <a:srgbClr val="028090"/>
                </a:solidFill>
                <a:latin typeface="Calibri" pitchFamily="34" charset="0"/>
                <a:ea typeface="Calibri" pitchFamily="34" charset="-122"/>
                <a:cs typeface="Calibri" pitchFamily="34" charset="-120"/>
              </a:rPr>
              <a:t>CERTIFICATIONS &amp; TARGETS</a:t>
            </a:r>
            <a:endParaRPr lang="en-US" sz="1200" dirty="0"/>
          </a:p>
        </p:txBody>
      </p:sp>
      <p:sp>
        <p:nvSpPr>
          <p:cNvPr id="23" name="Text 21"/>
          <p:cNvSpPr/>
          <p:nvPr/>
        </p:nvSpPr>
        <p:spPr>
          <a:xfrm>
            <a:off x="5806440" y="3200400"/>
            <a:ext cx="4846320" cy="274320"/>
          </a:xfrm>
          <a:prstGeom prst="rect">
            <a:avLst/>
          </a:prstGeom>
          <a:noFill/>
          <a:ln/>
        </p:spPr>
        <p:txBody>
          <a:bodyPr wrap="square" lIns="0" tIns="0" rIns="0" bIns="0"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DJSI &amp; S&amp;P Global</a:t>
            </a:r>
            <a:endParaRPr lang="en-US" sz="1100" dirty="0"/>
          </a:p>
        </p:txBody>
      </p:sp>
      <p:sp>
        <p:nvSpPr>
          <p:cNvPr id="24" name="Text 22"/>
          <p:cNvSpPr/>
          <p:nvPr/>
        </p:nvSpPr>
        <p:spPr>
          <a:xfrm>
            <a:off x="5806440" y="3291840"/>
            <a:ext cx="4846320" cy="475488"/>
          </a:xfrm>
          <a:prstGeom prst="rect">
            <a:avLst/>
          </a:prstGeom>
          <a:noFill/>
          <a:ln/>
        </p:spPr>
        <p:txBody>
          <a:bodyPr wrap="square" lIns="0" tIns="0" rIns="0" bIns="0" rtlCol="0" anchor="ctr"/>
          <a:lstStyle/>
          <a:p>
            <a:pPr marL="0" indent="0">
              <a:lnSpc>
                <a:spcPct val="120000"/>
              </a:lnSpc>
              <a:buNone/>
            </a:pPr>
            <a:r>
              <a:rPr lang="en-US" sz="1000" dirty="0">
                <a:solidFill>
                  <a:srgbClr val="6B7B79"/>
                </a:solidFill>
                <a:latin typeface="Calibri" pitchFamily="34" charset="0"/>
                <a:ea typeface="Calibri" pitchFamily="34" charset="-122"/>
                <a:cs typeface="Calibri" pitchFamily="34" charset="-120"/>
              </a:rPr>
              <a:t>Featured in Sustainability Yearbook 2026 (4th consecutive year)</a:t>
            </a:r>
            <a:endParaRPr lang="en-US" sz="1000" dirty="0"/>
          </a:p>
        </p:txBody>
      </p:sp>
      <p:sp>
        <p:nvSpPr>
          <p:cNvPr id="25" name="Text 23"/>
          <p:cNvSpPr/>
          <p:nvPr/>
        </p:nvSpPr>
        <p:spPr>
          <a:xfrm>
            <a:off x="5806440" y="3529584"/>
            <a:ext cx="4846320" cy="557784"/>
          </a:xfrm>
          <a:prstGeom prst="rect">
            <a:avLst/>
          </a:prstGeom>
          <a:noFill/>
          <a:ln/>
        </p:spPr>
        <p:txBody>
          <a:bodyPr wrap="square" lIns="0" tIns="0" rIns="0" bIns="0"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CDP Climate</a:t>
            </a:r>
            <a:endParaRPr lang="en-US" sz="1100" dirty="0"/>
          </a:p>
        </p:txBody>
      </p:sp>
      <p:sp>
        <p:nvSpPr>
          <p:cNvPr id="26" name="Text 24"/>
          <p:cNvSpPr/>
          <p:nvPr/>
        </p:nvSpPr>
        <p:spPr>
          <a:xfrm>
            <a:off x="5806440" y="3703320"/>
            <a:ext cx="4846320" cy="548640"/>
          </a:xfrm>
          <a:prstGeom prst="rect">
            <a:avLst/>
          </a:prstGeom>
          <a:noFill/>
          <a:ln/>
        </p:spPr>
        <p:txBody>
          <a:bodyPr wrap="square" lIns="0" tIns="0" rIns="0" bIns="0" rtlCol="0" anchor="ctr"/>
          <a:lstStyle/>
          <a:p>
            <a:pPr marL="0" indent="0">
              <a:lnSpc>
                <a:spcPct val="120000"/>
              </a:lnSpc>
              <a:buNone/>
            </a:pPr>
            <a:r>
              <a:rPr lang="en-US" sz="1000" dirty="0">
                <a:solidFill>
                  <a:srgbClr val="6B7B79"/>
                </a:solidFill>
                <a:latin typeface="Calibri" pitchFamily="34" charset="0"/>
                <a:ea typeface="Calibri" pitchFamily="34" charset="-122"/>
                <a:cs typeface="Calibri" pitchFamily="34" charset="-120"/>
              </a:rPr>
              <a:t>A- score (2024); Water Security: B</a:t>
            </a:r>
            <a:endParaRPr lang="en-US" sz="1000" dirty="0"/>
          </a:p>
        </p:txBody>
      </p:sp>
      <p:sp>
        <p:nvSpPr>
          <p:cNvPr id="27" name="Text 25"/>
          <p:cNvSpPr/>
          <p:nvPr/>
        </p:nvSpPr>
        <p:spPr>
          <a:xfrm>
            <a:off x="5806440" y="3703320"/>
            <a:ext cx="4846320" cy="1088136"/>
          </a:xfrm>
          <a:prstGeom prst="rect">
            <a:avLst/>
          </a:prstGeom>
          <a:noFill/>
          <a:ln/>
        </p:spPr>
        <p:txBody>
          <a:bodyPr wrap="square" lIns="0" tIns="0" rIns="0" bIns="0"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FY29 Targets</a:t>
            </a:r>
            <a:endParaRPr lang="en-US" sz="1100" dirty="0"/>
          </a:p>
        </p:txBody>
      </p:sp>
      <p:sp>
        <p:nvSpPr>
          <p:cNvPr id="28" name="Text 26"/>
          <p:cNvSpPr/>
          <p:nvPr/>
        </p:nvSpPr>
        <p:spPr>
          <a:xfrm>
            <a:off x="5806440" y="4325112"/>
            <a:ext cx="4846320" cy="201168"/>
          </a:xfrm>
          <a:prstGeom prst="rect">
            <a:avLst/>
          </a:prstGeom>
          <a:noFill/>
          <a:ln/>
        </p:spPr>
        <p:txBody>
          <a:bodyPr wrap="square" lIns="0" tIns="0" rIns="0" bIns="0" rtlCol="0" anchor="ctr"/>
          <a:lstStyle/>
          <a:p>
            <a:pPr marL="0" indent="0">
              <a:lnSpc>
                <a:spcPct val="120000"/>
              </a:lnSpc>
              <a:buNone/>
            </a:pPr>
            <a:r>
              <a:rPr lang="en-US" sz="1000" dirty="0">
                <a:solidFill>
                  <a:srgbClr val="6B7B79"/>
                </a:solidFill>
                <a:latin typeface="Calibri" pitchFamily="34" charset="0"/>
                <a:ea typeface="Calibri" pitchFamily="34" charset="-122"/>
                <a:cs typeface="Calibri" pitchFamily="34" charset="-120"/>
              </a:rPr>
              <a:t>25% GHG reduction; 25% freshwater reduction; 100% circular waste</a:t>
            </a:r>
            <a:endParaRPr lang="en-US" sz="1000" dirty="0"/>
          </a:p>
        </p:txBody>
      </p:sp>
      <p:sp>
        <p:nvSpPr>
          <p:cNvPr id="29" name="Text 27"/>
          <p:cNvSpPr/>
          <p:nvPr/>
        </p:nvSpPr>
        <p:spPr>
          <a:xfrm>
            <a:off x="5806440" y="4105656"/>
            <a:ext cx="4846320" cy="1152144"/>
          </a:xfrm>
          <a:prstGeom prst="rect">
            <a:avLst/>
          </a:prstGeom>
          <a:noFill/>
          <a:ln/>
        </p:spPr>
        <p:txBody>
          <a:bodyPr wrap="square" lIns="0" tIns="0" rIns="0" bIns="0"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ISO 45001</a:t>
            </a:r>
            <a:endParaRPr lang="en-US" sz="1100" dirty="0"/>
          </a:p>
        </p:txBody>
      </p:sp>
      <p:sp>
        <p:nvSpPr>
          <p:cNvPr id="30" name="Text 28"/>
          <p:cNvSpPr/>
          <p:nvPr/>
        </p:nvSpPr>
        <p:spPr>
          <a:xfrm>
            <a:off x="5806440" y="4526280"/>
            <a:ext cx="4846320" cy="731520"/>
          </a:xfrm>
          <a:prstGeom prst="rect">
            <a:avLst/>
          </a:prstGeom>
          <a:noFill/>
          <a:ln/>
        </p:spPr>
        <p:txBody>
          <a:bodyPr wrap="square" lIns="0" tIns="0" rIns="0" bIns="0" rtlCol="0" anchor="ctr"/>
          <a:lstStyle/>
          <a:p>
            <a:pPr marL="0" indent="0">
              <a:lnSpc>
                <a:spcPct val="120000"/>
              </a:lnSpc>
              <a:buNone/>
            </a:pPr>
            <a:r>
              <a:rPr lang="en-US" sz="1000" dirty="0">
                <a:solidFill>
                  <a:srgbClr val="6B7B79"/>
                </a:solidFill>
                <a:latin typeface="Calibri" pitchFamily="34" charset="0"/>
                <a:ea typeface="Calibri" pitchFamily="34" charset="-122"/>
                <a:cs typeface="Calibri" pitchFamily="34" charset="-120"/>
              </a:rPr>
              <a:t>Occupational Health &amp; Safety certification</a:t>
            </a:r>
            <a:endParaRPr lang="en-US" sz="1000" dirty="0"/>
          </a:p>
        </p:txBody>
      </p:sp>
      <p:sp>
        <p:nvSpPr>
          <p:cNvPr id="31" name="Text 29"/>
          <p:cNvSpPr/>
          <p:nvPr/>
        </p:nvSpPr>
        <p:spPr>
          <a:xfrm>
            <a:off x="5806440" y="4270248"/>
            <a:ext cx="4846320" cy="1810512"/>
          </a:xfrm>
          <a:prstGeom prst="rect">
            <a:avLst/>
          </a:prstGeom>
          <a:noFill/>
          <a:ln/>
        </p:spPr>
        <p:txBody>
          <a:bodyPr wrap="square" lIns="0" tIns="0" rIns="0" bIns="0"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Syngene IAEC</a:t>
            </a:r>
            <a:endParaRPr lang="en-US" sz="1100" dirty="0"/>
          </a:p>
        </p:txBody>
      </p:sp>
      <p:sp>
        <p:nvSpPr>
          <p:cNvPr id="32" name="Text 30"/>
          <p:cNvSpPr/>
          <p:nvPr/>
        </p:nvSpPr>
        <p:spPr>
          <a:xfrm>
            <a:off x="5806440" y="4270248"/>
            <a:ext cx="4846320" cy="2203704"/>
          </a:xfrm>
          <a:prstGeom prst="rect">
            <a:avLst/>
          </a:prstGeom>
          <a:noFill/>
          <a:ln/>
        </p:spPr>
        <p:txBody>
          <a:bodyPr wrap="square" lIns="0" tIns="0" rIns="0" bIns="0" rtlCol="0" anchor="ctr"/>
          <a:lstStyle/>
          <a:p>
            <a:pPr marL="0" indent="0">
              <a:lnSpc>
                <a:spcPct val="120000"/>
              </a:lnSpc>
              <a:buNone/>
            </a:pPr>
            <a:r>
              <a:rPr lang="en-US" sz="1000" dirty="0">
                <a:solidFill>
                  <a:srgbClr val="6B7B79"/>
                </a:solidFill>
                <a:latin typeface="Calibri" pitchFamily="34" charset="0"/>
                <a:ea typeface="Calibri" pitchFamily="34" charset="-122"/>
                <a:cs typeface="Calibri" pitchFamily="34" charset="-120"/>
              </a:rPr>
              <a:t>Institutional Animal Ethics Committee &amp; biosafety</a:t>
            </a:r>
            <a:endParaRPr lang="en-US" sz="1000" dirty="0"/>
          </a:p>
        </p:txBody>
      </p:sp>
      <p:sp>
        <p:nvSpPr>
          <p:cNvPr id="33" name="Text 31"/>
          <p:cNvSpPr/>
          <p:nvPr/>
        </p:nvSpPr>
        <p:spPr>
          <a:xfrm>
            <a:off x="11475720" y="6473952"/>
            <a:ext cx="548640" cy="274320"/>
          </a:xfrm>
          <a:prstGeom prst="rect">
            <a:avLst/>
          </a:prstGeom>
          <a:noFill/>
          <a:ln/>
        </p:spPr>
        <p:txBody>
          <a:bodyPr wrap="square" lIns="0" tIns="0" rIns="0" bIns="0" rtlCol="0" anchor="ctr"/>
          <a:lstStyle/>
          <a:p>
            <a:pPr marL="0" indent="0" algn="r">
              <a:buNone/>
            </a:pPr>
            <a:r>
              <a:rPr lang="en-US" sz="1000" dirty="0">
                <a:solidFill>
                  <a:srgbClr val="6B7B79"/>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042A2B"/>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marL="0" indent="0">
              <a:buNone/>
            </a:pPr>
            <a:r>
              <a:rPr lang="en-US" sz="1200" b="1" kern="0" spc="200" dirty="0">
                <a:solidFill>
                  <a:srgbClr val="02C39A"/>
                </a:solidFill>
                <a:latin typeface="Calibri" pitchFamily="34" charset="0"/>
                <a:ea typeface="Calibri" pitchFamily="34" charset="-122"/>
                <a:cs typeface="Calibri" pitchFamily="34" charset="-120"/>
              </a:rPr>
              <a:t>OUTLOOK</a:t>
            </a:r>
            <a:endParaRPr lang="en-US" sz="1200" dirty="0"/>
          </a:p>
        </p:txBody>
      </p:sp>
      <p:sp>
        <p:nvSpPr>
          <p:cNvPr id="3" name="Text 1"/>
          <p:cNvSpPr/>
          <p:nvPr/>
        </p:nvSpPr>
        <p:spPr>
          <a:xfrm>
            <a:off x="548640" y="777240"/>
            <a:ext cx="1051560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What's Next: </a:t>
            </a:r>
            <a:endParaRPr lang="en-US" sz="3200" dirty="0"/>
          </a:p>
        </p:txBody>
      </p:sp>
      <p:sp>
        <p:nvSpPr>
          <p:cNvPr id="4" name="Text 2"/>
          <p:cNvSpPr/>
          <p:nvPr/>
        </p:nvSpPr>
        <p:spPr>
          <a:xfrm>
            <a:off x="548640" y="1600200"/>
            <a:ext cx="10881360" cy="1005840"/>
          </a:xfrm>
          <a:prstGeom prst="rect">
            <a:avLst/>
          </a:prstGeom>
          <a:noFill/>
          <a:ln/>
        </p:spPr>
        <p:txBody>
          <a:bodyPr wrap="square" lIns="0" tIns="0" rIns="0" bIns="0" rtlCol="0" anchor="ctr"/>
          <a:lstStyle/>
          <a:p>
            <a:pPr marL="0" indent="0">
              <a:lnSpc>
                <a:spcPct val="128000"/>
              </a:lnSpc>
              <a:buNone/>
            </a:pPr>
            <a:r>
              <a:rPr lang="en-US" sz="1350" dirty="0">
                <a:solidFill>
                  <a:srgbClr val="D7ECEA"/>
                </a:solidFill>
                <a:latin typeface="Calibri" pitchFamily="34" charset="0"/>
                <a:ea typeface="Calibri" pitchFamily="34" charset="-122"/>
                <a:cs typeface="Calibri" pitchFamily="34" charset="-120"/>
              </a:rPr>
              <a:t>In December 2025, Biocon moved to fully integrate its biosimilars arm, Biocon Biologics, as a wholly owned subsidiary — simplifying its corporate structure and sharpening focus on diabetes, oncology and immunology, therapeutic areas that together account for roughly 40% of global pharmaceutical spend.</a:t>
            </a:r>
            <a:endParaRPr lang="en-US" sz="1350" dirty="0"/>
          </a:p>
        </p:txBody>
      </p:sp>
      <p:sp>
        <p:nvSpPr>
          <p:cNvPr id="5" name="Shape 3"/>
          <p:cNvSpPr/>
          <p:nvPr/>
        </p:nvSpPr>
        <p:spPr>
          <a:xfrm>
            <a:off x="548640" y="2926080"/>
            <a:ext cx="3502152" cy="2834640"/>
          </a:xfrm>
          <a:prstGeom prst="roundRect">
            <a:avLst>
              <a:gd name="adj" fmla="val 3226"/>
            </a:avLst>
          </a:prstGeom>
          <a:solidFill>
            <a:srgbClr val="0A3B3C"/>
          </a:solidFill>
          <a:ln w="12700">
            <a:solidFill>
              <a:srgbClr val="2E6B67"/>
            </a:solidFill>
            <a:prstDash val="solid"/>
          </a:ln>
        </p:spPr>
      </p:sp>
      <p:sp>
        <p:nvSpPr>
          <p:cNvPr id="6" name="Text 4"/>
          <p:cNvSpPr/>
          <p:nvPr/>
        </p:nvSpPr>
        <p:spPr>
          <a:xfrm>
            <a:off x="777240" y="3200400"/>
            <a:ext cx="3044952" cy="548640"/>
          </a:xfrm>
          <a:prstGeom prst="rect">
            <a:avLst/>
          </a:prstGeom>
          <a:noFill/>
          <a:ln/>
        </p:spPr>
        <p:txBody>
          <a:bodyPr wrap="square" lIns="0" tIns="0" rIns="0" bIns="0" rtlCol="0" anchor="ctr"/>
          <a:lstStyle/>
          <a:p>
            <a:pPr marL="0" indent="0">
              <a:buNone/>
            </a:pPr>
            <a:r>
              <a:rPr lang="en-US" sz="1600" b="1" dirty="0">
                <a:solidFill>
                  <a:srgbClr val="02C39A"/>
                </a:solidFill>
                <a:latin typeface="Cambria" pitchFamily="34" charset="0"/>
                <a:ea typeface="Cambria" pitchFamily="34" charset="-122"/>
                <a:cs typeface="Cambria" pitchFamily="34" charset="-120"/>
              </a:rPr>
              <a:t>Diabetes &amp; Obesity</a:t>
            </a:r>
            <a:endParaRPr lang="en-US" sz="1600" dirty="0"/>
          </a:p>
        </p:txBody>
      </p:sp>
      <p:sp>
        <p:nvSpPr>
          <p:cNvPr id="7" name="Text 5"/>
          <p:cNvSpPr/>
          <p:nvPr/>
        </p:nvSpPr>
        <p:spPr>
          <a:xfrm>
            <a:off x="777240" y="3840480"/>
            <a:ext cx="3044952" cy="1828800"/>
          </a:xfrm>
          <a:prstGeom prst="rect">
            <a:avLst/>
          </a:prstGeom>
          <a:noFill/>
          <a:ln/>
        </p:spPr>
        <p:txBody>
          <a:bodyPr wrap="square" lIns="0" tIns="0" rIns="0" bIns="0" rtlCol="0" anchor="ctr"/>
          <a:lstStyle/>
          <a:p>
            <a:pPr marL="0" indent="0">
              <a:lnSpc>
                <a:spcPct val="130000"/>
              </a:lnSpc>
              <a:buNone/>
            </a:pPr>
            <a:r>
              <a:rPr lang="en-US" sz="1200" dirty="0">
                <a:solidFill>
                  <a:srgbClr val="C7E2DF"/>
                </a:solidFill>
                <a:latin typeface="Calibri" pitchFamily="34" charset="0"/>
                <a:ea typeface="Calibri" pitchFamily="34" charset="-122"/>
                <a:cs typeface="Calibri" pitchFamily="34" charset="-120"/>
              </a:rPr>
              <a:t>Full-spectrum care combining biosimilar insulins with generic GLP-1 peptides amid rising global diabetes and obesity burden.</a:t>
            </a:r>
            <a:endParaRPr lang="en-US" sz="1200" dirty="0"/>
          </a:p>
        </p:txBody>
      </p:sp>
      <p:sp>
        <p:nvSpPr>
          <p:cNvPr id="8" name="Shape 6"/>
          <p:cNvSpPr/>
          <p:nvPr/>
        </p:nvSpPr>
        <p:spPr>
          <a:xfrm>
            <a:off x="4233672" y="2926080"/>
            <a:ext cx="3502152" cy="2834640"/>
          </a:xfrm>
          <a:prstGeom prst="roundRect">
            <a:avLst>
              <a:gd name="adj" fmla="val 3226"/>
            </a:avLst>
          </a:prstGeom>
          <a:solidFill>
            <a:srgbClr val="0A3B3C"/>
          </a:solidFill>
          <a:ln w="12700">
            <a:solidFill>
              <a:srgbClr val="2E6B67"/>
            </a:solidFill>
            <a:prstDash val="solid"/>
          </a:ln>
        </p:spPr>
      </p:sp>
      <p:sp>
        <p:nvSpPr>
          <p:cNvPr id="9" name="Text 7"/>
          <p:cNvSpPr/>
          <p:nvPr/>
        </p:nvSpPr>
        <p:spPr>
          <a:xfrm>
            <a:off x="4462272" y="3200400"/>
            <a:ext cx="3044952" cy="548640"/>
          </a:xfrm>
          <a:prstGeom prst="rect">
            <a:avLst/>
          </a:prstGeom>
          <a:noFill/>
          <a:ln/>
        </p:spPr>
        <p:txBody>
          <a:bodyPr wrap="square" lIns="0" tIns="0" rIns="0" bIns="0" rtlCol="0" anchor="ctr"/>
          <a:lstStyle/>
          <a:p>
            <a:pPr marL="0" indent="0">
              <a:buNone/>
            </a:pPr>
            <a:r>
              <a:rPr lang="en-US" sz="1600" b="1" dirty="0">
                <a:solidFill>
                  <a:srgbClr val="02C39A"/>
                </a:solidFill>
                <a:latin typeface="Cambria" pitchFamily="34" charset="0"/>
                <a:ea typeface="Cambria" pitchFamily="34" charset="-122"/>
                <a:cs typeface="Cambria" pitchFamily="34" charset="-120"/>
              </a:rPr>
              <a:t>Oncology Expansion</a:t>
            </a:r>
            <a:endParaRPr lang="en-US" sz="1600" dirty="0"/>
          </a:p>
        </p:txBody>
      </p:sp>
      <p:sp>
        <p:nvSpPr>
          <p:cNvPr id="10" name="Text 8"/>
          <p:cNvSpPr/>
          <p:nvPr/>
        </p:nvSpPr>
        <p:spPr>
          <a:xfrm>
            <a:off x="4462272" y="3840480"/>
            <a:ext cx="3044952" cy="1828800"/>
          </a:xfrm>
          <a:prstGeom prst="rect">
            <a:avLst/>
          </a:prstGeom>
          <a:noFill/>
          <a:ln/>
        </p:spPr>
        <p:txBody>
          <a:bodyPr wrap="square" lIns="0" tIns="0" rIns="0" bIns="0" rtlCol="0" anchor="ctr"/>
          <a:lstStyle/>
          <a:p>
            <a:pPr marL="0" indent="0">
              <a:lnSpc>
                <a:spcPct val="130000"/>
              </a:lnSpc>
              <a:buNone/>
            </a:pPr>
            <a:r>
              <a:rPr lang="en-US" sz="1200" dirty="0">
                <a:solidFill>
                  <a:srgbClr val="C7E2DF"/>
                </a:solidFill>
                <a:latin typeface="Calibri" pitchFamily="34" charset="0"/>
                <a:ea typeface="Calibri" pitchFamily="34" charset="-122"/>
                <a:cs typeface="Calibri" pitchFamily="34" charset="-120"/>
              </a:rPr>
              <a:t>17 pipeline assets, including proposed biosimilars for Nivolumab (Opdivo®) and Pembrolizumab (Keytruda®).</a:t>
            </a:r>
            <a:endParaRPr lang="en-US" sz="1200" dirty="0"/>
          </a:p>
        </p:txBody>
      </p:sp>
      <p:sp>
        <p:nvSpPr>
          <p:cNvPr id="11" name="Shape 9"/>
          <p:cNvSpPr/>
          <p:nvPr/>
        </p:nvSpPr>
        <p:spPr>
          <a:xfrm>
            <a:off x="7918704" y="2926080"/>
            <a:ext cx="3502152" cy="2834640"/>
          </a:xfrm>
          <a:prstGeom prst="roundRect">
            <a:avLst>
              <a:gd name="adj" fmla="val 3226"/>
            </a:avLst>
          </a:prstGeom>
          <a:solidFill>
            <a:srgbClr val="0A3B3C"/>
          </a:solidFill>
          <a:ln w="12700">
            <a:solidFill>
              <a:srgbClr val="2E6B67"/>
            </a:solidFill>
            <a:prstDash val="solid"/>
          </a:ln>
        </p:spPr>
      </p:sp>
      <p:sp>
        <p:nvSpPr>
          <p:cNvPr id="12" name="Text 10"/>
          <p:cNvSpPr/>
          <p:nvPr/>
        </p:nvSpPr>
        <p:spPr>
          <a:xfrm>
            <a:off x="8147304" y="3200400"/>
            <a:ext cx="3044952" cy="548640"/>
          </a:xfrm>
          <a:prstGeom prst="rect">
            <a:avLst/>
          </a:prstGeom>
          <a:noFill/>
          <a:ln/>
        </p:spPr>
        <p:txBody>
          <a:bodyPr wrap="square" lIns="0" tIns="0" rIns="0" bIns="0" rtlCol="0" anchor="ctr"/>
          <a:lstStyle/>
          <a:p>
            <a:pPr marL="0" indent="0">
              <a:buNone/>
            </a:pPr>
            <a:r>
              <a:rPr lang="en-US" sz="1600" b="1" dirty="0">
                <a:solidFill>
                  <a:srgbClr val="02C39A"/>
                </a:solidFill>
                <a:latin typeface="Cambria" pitchFamily="34" charset="0"/>
                <a:ea typeface="Cambria" pitchFamily="34" charset="-122"/>
                <a:cs typeface="Cambria" pitchFamily="34" charset="-120"/>
              </a:rPr>
              <a:t>Immunology &amp; Beyond</a:t>
            </a:r>
            <a:endParaRPr lang="en-US" sz="1600" dirty="0"/>
          </a:p>
        </p:txBody>
      </p:sp>
      <p:sp>
        <p:nvSpPr>
          <p:cNvPr id="13" name="Text 11"/>
          <p:cNvSpPr/>
          <p:nvPr/>
        </p:nvSpPr>
        <p:spPr>
          <a:xfrm>
            <a:off x="8147304" y="3840480"/>
            <a:ext cx="3044952" cy="1828800"/>
          </a:xfrm>
          <a:prstGeom prst="rect">
            <a:avLst/>
          </a:prstGeom>
          <a:noFill/>
          <a:ln/>
        </p:spPr>
        <p:txBody>
          <a:bodyPr wrap="square" lIns="0" tIns="0" rIns="0" bIns="0" rtlCol="0" anchor="ctr"/>
          <a:lstStyle/>
          <a:p>
            <a:pPr marL="0" indent="0">
              <a:lnSpc>
                <a:spcPct val="130000"/>
              </a:lnSpc>
              <a:buNone/>
            </a:pPr>
            <a:r>
              <a:rPr lang="en-US" sz="1200" dirty="0">
                <a:solidFill>
                  <a:srgbClr val="C7E2DF"/>
                </a:solidFill>
                <a:latin typeface="Calibri" pitchFamily="34" charset="0"/>
                <a:ea typeface="Calibri" pitchFamily="34" charset="-122"/>
                <a:cs typeface="Calibri" pitchFamily="34" charset="-120"/>
              </a:rPr>
              <a:t>20-molecule biosimilar pipeline spanning ophthalmology, bone health and other non-communicable diseases.</a:t>
            </a:r>
            <a:endParaRPr lang="en-US" sz="1200" dirty="0"/>
          </a:p>
        </p:txBody>
      </p:sp>
      <p:sp>
        <p:nvSpPr>
          <p:cNvPr id="14" name="Text 12"/>
          <p:cNvSpPr/>
          <p:nvPr/>
        </p:nvSpPr>
        <p:spPr>
          <a:xfrm>
            <a:off x="11475720" y="6473952"/>
            <a:ext cx="548640" cy="274320"/>
          </a:xfrm>
          <a:prstGeom prst="rect">
            <a:avLst/>
          </a:prstGeom>
          <a:noFill/>
          <a:ln/>
        </p:spPr>
        <p:txBody>
          <a:bodyPr wrap="square" lIns="0" tIns="0" rIns="0" bIns="0" rtlCol="0" anchor="ctr"/>
          <a:lstStyle/>
          <a:p>
            <a:pPr marL="0" indent="0" algn="r">
              <a:buNone/>
            </a:pPr>
            <a:r>
              <a:rPr lang="en-US" sz="1000" dirty="0">
                <a:solidFill>
                  <a:srgbClr val="9FC9C6"/>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42A2B"/>
        </a:solidFill>
        <a:effectLst/>
      </p:bgPr>
    </p:bg>
    <p:spTree>
      <p:nvGrpSpPr>
        <p:cNvPr id="1" name=""/>
        <p:cNvGrpSpPr/>
        <p:nvPr/>
      </p:nvGrpSpPr>
      <p:grpSpPr>
        <a:xfrm>
          <a:off x="0" y="0"/>
          <a:ext cx="0" cy="0"/>
          <a:chOff x="0" y="0"/>
          <a:chExt cx="0" cy="0"/>
        </a:xfrm>
      </p:grpSpPr>
      <p:sp>
        <p:nvSpPr>
          <p:cNvPr id="2" name="Shape 0"/>
          <p:cNvSpPr/>
          <p:nvPr/>
        </p:nvSpPr>
        <p:spPr>
          <a:xfrm>
            <a:off x="11064240" y="5760720"/>
            <a:ext cx="1280160" cy="1280160"/>
          </a:xfrm>
          <a:prstGeom prst="ellipse">
            <a:avLst/>
          </a:prstGeom>
          <a:solidFill>
            <a:srgbClr val="00A896">
              <a:alpha val="25000"/>
            </a:srgbClr>
          </a:solidFill>
          <a:ln/>
        </p:spPr>
      </p:sp>
      <p:sp>
        <p:nvSpPr>
          <p:cNvPr id="3" name="Shape 1"/>
          <p:cNvSpPr/>
          <p:nvPr/>
        </p:nvSpPr>
        <p:spPr>
          <a:xfrm>
            <a:off x="10515600" y="5120640"/>
            <a:ext cx="731520" cy="731520"/>
          </a:xfrm>
          <a:prstGeom prst="ellipse">
            <a:avLst/>
          </a:prstGeom>
          <a:solidFill>
            <a:srgbClr val="00A896">
              <a:alpha val="25000"/>
            </a:srgbClr>
          </a:solidFill>
          <a:ln/>
        </p:spPr>
      </p:sp>
      <p:sp>
        <p:nvSpPr>
          <p:cNvPr id="4" name="Shape 2"/>
          <p:cNvSpPr/>
          <p:nvPr/>
        </p:nvSpPr>
        <p:spPr>
          <a:xfrm>
            <a:off x="11795760" y="5029200"/>
            <a:ext cx="548640" cy="548640"/>
          </a:xfrm>
          <a:prstGeom prst="ellipse">
            <a:avLst/>
          </a:prstGeom>
          <a:solidFill>
            <a:srgbClr val="00A896">
              <a:alpha val="25000"/>
            </a:srgbClr>
          </a:solidFill>
          <a:ln/>
        </p:spPr>
      </p:sp>
      <p:sp>
        <p:nvSpPr>
          <p:cNvPr id="5" name="Text 3"/>
          <p:cNvSpPr/>
          <p:nvPr/>
        </p:nvSpPr>
        <p:spPr>
          <a:xfrm>
            <a:off x="548640" y="1236133"/>
            <a:ext cx="9144000" cy="501227"/>
          </a:xfrm>
          <a:prstGeom prst="rect">
            <a:avLst/>
          </a:prstGeom>
          <a:noFill/>
          <a:ln/>
        </p:spPr>
        <p:txBody>
          <a:bodyPr wrap="square" lIns="0" tIns="0" rIns="0" bIns="0" rtlCol="0" anchor="ctr"/>
          <a:lstStyle/>
          <a:p>
            <a:pPr marL="0" indent="0">
              <a:buNone/>
            </a:pPr>
            <a:r>
              <a:rPr lang="en-US" sz="1400" b="1" kern="0" spc="200" dirty="0">
                <a:solidFill>
                  <a:srgbClr val="00A896"/>
                </a:solidFill>
                <a:latin typeface="Calibri" pitchFamily="34" charset="0"/>
                <a:ea typeface="Calibri" pitchFamily="34" charset="-122"/>
                <a:cs typeface="Calibri" pitchFamily="34" charset="-120"/>
              </a:rPr>
              <a:t>Key Takeaway</a:t>
            </a:r>
            <a:endParaRPr lang="en-US" sz="1400" dirty="0"/>
          </a:p>
        </p:txBody>
      </p:sp>
      <p:sp>
        <p:nvSpPr>
          <p:cNvPr id="6" name="Text 4"/>
          <p:cNvSpPr/>
          <p:nvPr/>
        </p:nvSpPr>
        <p:spPr>
          <a:xfrm>
            <a:off x="548640" y="1828800"/>
            <a:ext cx="10515600" cy="1371600"/>
          </a:xfrm>
          <a:prstGeom prst="rect">
            <a:avLst/>
          </a:prstGeom>
          <a:noFill/>
          <a:ln/>
        </p:spPr>
        <p:txBody>
          <a:bodyPr wrap="square" lIns="0" tIns="0" rIns="0" bIns="0" rtlCol="0" anchor="ctr"/>
          <a:lstStyle/>
          <a:p>
            <a:pPr marL="0" indent="0">
              <a:lnSpc>
                <a:spcPct val="105000"/>
              </a:lnSpc>
              <a:buNone/>
            </a:pPr>
            <a:r>
              <a:rPr lang="en-US" sz="3800" b="1" dirty="0">
                <a:solidFill>
                  <a:srgbClr val="FFFFFF"/>
                </a:solidFill>
                <a:latin typeface="Cambria" pitchFamily="34" charset="0"/>
                <a:ea typeface="Cambria" pitchFamily="34" charset="-122"/>
                <a:cs typeface="Cambria" pitchFamily="34" charset="-120"/>
              </a:rPr>
              <a:t>Profitability +</a:t>
            </a:r>
            <a:endParaRPr lang="en-US" sz="3800" dirty="0"/>
          </a:p>
          <a:p>
            <a:pPr marL="0" indent="0">
              <a:lnSpc>
                <a:spcPct val="105000"/>
              </a:lnSpc>
              <a:buNone/>
            </a:pPr>
            <a:r>
              <a:rPr lang="en-US" sz="3800" b="1" dirty="0">
                <a:solidFill>
                  <a:srgbClr val="FFFFFF"/>
                </a:solidFill>
                <a:latin typeface="Cambria" pitchFamily="34" charset="0"/>
                <a:ea typeface="Cambria" pitchFamily="34" charset="-122"/>
                <a:cs typeface="Cambria" pitchFamily="34" charset="-120"/>
              </a:rPr>
              <a:t>Sustainability +</a:t>
            </a:r>
            <a:endParaRPr lang="en-US" sz="3800" dirty="0"/>
          </a:p>
          <a:p>
            <a:pPr marL="0" indent="0">
              <a:lnSpc>
                <a:spcPct val="105000"/>
              </a:lnSpc>
              <a:buNone/>
            </a:pPr>
            <a:r>
              <a:rPr lang="en-US" sz="3800" b="1" dirty="0">
                <a:solidFill>
                  <a:srgbClr val="FFFFFF"/>
                </a:solidFill>
                <a:latin typeface="Cambria" pitchFamily="34" charset="0"/>
                <a:ea typeface="Cambria" pitchFamily="34" charset="-122"/>
                <a:cs typeface="Cambria" pitchFamily="34" charset="-120"/>
              </a:rPr>
              <a:t>Access</a:t>
            </a:r>
            <a:endParaRPr lang="en-US" sz="3800" dirty="0"/>
          </a:p>
        </p:txBody>
      </p:sp>
      <p:sp>
        <p:nvSpPr>
          <p:cNvPr id="7" name="Text 5"/>
          <p:cNvSpPr/>
          <p:nvPr/>
        </p:nvSpPr>
        <p:spPr>
          <a:xfrm>
            <a:off x="548640" y="3474720"/>
            <a:ext cx="8046720" cy="1645920"/>
          </a:xfrm>
          <a:prstGeom prst="rect">
            <a:avLst/>
          </a:prstGeom>
          <a:noFill/>
          <a:ln/>
        </p:spPr>
        <p:txBody>
          <a:bodyPr wrap="square" lIns="0" tIns="0" rIns="0" bIns="0" rtlCol="0" anchor="ctr"/>
          <a:lstStyle/>
          <a:p>
            <a:pPr>
              <a:lnSpc>
                <a:spcPct val="135000"/>
              </a:lnSpc>
            </a:pPr>
            <a:r>
              <a:rPr lang="en-IN" sz="1400" dirty="0">
                <a:solidFill>
                  <a:srgbClr val="C7E2DF"/>
                </a:solidFill>
                <a:latin typeface="Calibri" pitchFamily="34" charset="0"/>
                <a:ea typeface="Calibri" pitchFamily="34" charset="-122"/>
                <a:cs typeface="Calibri" pitchFamily="34" charset="-120"/>
              </a:rPr>
              <a:t>Biocon proves scaling, innovation, and sustainability thrive together. By embedding ESG and mastering scalable manufacturing across various sectors(biosimilars, generics, services), they are transforming expensive biologics into accessible medicines. True innovation is building the resilient, transparent infrastructure required to make global healthcare affordable. </a:t>
            </a:r>
            <a:endParaRPr lang="en-US" sz="1400" dirty="0">
              <a:solidFill>
                <a:schemeClr val="bg1"/>
              </a:solidFill>
            </a:endParaRPr>
          </a:p>
        </p:txBody>
      </p:sp>
      <p:sp>
        <p:nvSpPr>
          <p:cNvPr id="8" name="Shape 6"/>
          <p:cNvSpPr/>
          <p:nvPr/>
        </p:nvSpPr>
        <p:spPr>
          <a:xfrm>
            <a:off x="548640" y="5303520"/>
            <a:ext cx="1097280" cy="0"/>
          </a:xfrm>
          <a:prstGeom prst="line">
            <a:avLst/>
          </a:prstGeom>
          <a:noFill/>
          <a:ln w="31750">
            <a:solidFill>
              <a:srgbClr val="E8B635"/>
            </a:solidFill>
            <a:prstDash val="solid"/>
          </a:ln>
        </p:spPr>
      </p:sp>
      <p:sp>
        <p:nvSpPr>
          <p:cNvPr id="9" name="Text 7"/>
          <p:cNvSpPr/>
          <p:nvPr/>
        </p:nvSpPr>
        <p:spPr>
          <a:xfrm>
            <a:off x="548640" y="5532120"/>
            <a:ext cx="5486400" cy="365760"/>
          </a:xfrm>
          <a:prstGeom prst="rect">
            <a:avLst/>
          </a:prstGeom>
          <a:noFill/>
          <a:ln/>
        </p:spPr>
        <p:txBody>
          <a:bodyPr wrap="square" lIns="0" tIns="0" rIns="0" bIns="0" rtlCol="0" anchor="ctr"/>
          <a:lstStyle/>
          <a:p>
            <a:pPr marL="0" indent="0">
              <a:buNone/>
            </a:pPr>
            <a:endParaRPr lang="en-US" sz="1300" dirty="0"/>
          </a:p>
        </p:txBody>
      </p:sp>
      <p:sp>
        <p:nvSpPr>
          <p:cNvPr id="10" name="Text 8"/>
          <p:cNvSpPr/>
          <p:nvPr/>
        </p:nvSpPr>
        <p:spPr>
          <a:xfrm>
            <a:off x="11475720" y="6473952"/>
            <a:ext cx="548640" cy="274320"/>
          </a:xfrm>
          <a:prstGeom prst="rect">
            <a:avLst/>
          </a:prstGeom>
          <a:noFill/>
          <a:ln/>
        </p:spPr>
        <p:txBody>
          <a:bodyPr wrap="square" lIns="0" tIns="0" rIns="0" bIns="0" rtlCol="0" anchor="ctr"/>
          <a:lstStyle/>
          <a:p>
            <a:pPr marL="0" indent="0" algn="r">
              <a:buNone/>
            </a:pPr>
            <a:r>
              <a:rPr lang="en-US" sz="1000" dirty="0">
                <a:solidFill>
                  <a:srgbClr val="6FA9A3"/>
                </a:solidFill>
                <a:latin typeface="Calibri" pitchFamily="34" charset="0"/>
                <a:ea typeface="Calibri" pitchFamily="34" charset="-122"/>
                <a:cs typeface="Calibri" pitchFamily="34" charset="-120"/>
              </a:rPr>
              <a:t>13</a:t>
            </a:r>
            <a:endParaRPr lang="en-US" sz="1000" dirty="0"/>
          </a:p>
        </p:txBody>
      </p:sp>
      <p:sp>
        <p:nvSpPr>
          <p:cNvPr id="11" name="TextBox 10">
            <a:extLst>
              <a:ext uri="{FF2B5EF4-FFF2-40B4-BE49-F238E27FC236}">
                <a16:creationId xmlns:a16="http://schemas.microsoft.com/office/drawing/2014/main" id="{8330E079-52DB-34C8-8638-A7D2B74A1106}"/>
              </a:ext>
            </a:extLst>
          </p:cNvPr>
          <p:cNvSpPr txBox="1"/>
          <p:nvPr/>
        </p:nvSpPr>
        <p:spPr>
          <a:xfrm>
            <a:off x="548641" y="6187440"/>
            <a:ext cx="6789420" cy="338554"/>
          </a:xfrm>
          <a:prstGeom prst="rect">
            <a:avLst/>
          </a:prstGeom>
          <a:noFill/>
        </p:spPr>
        <p:txBody>
          <a:bodyPr wrap="square" rtlCol="0">
            <a:spAutoFit/>
          </a:bodyPr>
          <a:lstStyle/>
          <a:p>
            <a:r>
              <a:rPr lang="en-US" sz="800" i="1" dirty="0">
                <a:solidFill>
                  <a:schemeClr val="bg1">
                    <a:lumMod val="65000"/>
                  </a:schemeClr>
                </a:solidFill>
              </a:rPr>
              <a:t>The following PPT template has been generated by Claude AI. References include: </a:t>
            </a:r>
            <a:r>
              <a:rPr lang="en-IN" sz="800" i="1" dirty="0">
                <a:solidFill>
                  <a:schemeClr val="bg1">
                    <a:lumMod val="65000"/>
                  </a:schemeClr>
                </a:solidFill>
                <a:hlinkClick r:id="rId3">
                  <a:extLst>
                    <a:ext uri="{A12FA001-AC4F-418D-AE19-62706E023703}">
                      <ahyp:hlinkClr xmlns:ahyp="http://schemas.microsoft.com/office/drawing/2018/hyperlinkcolor" val="tx"/>
                    </a:ext>
                  </a:extLst>
                </a:hlinkClick>
              </a:rPr>
              <a:t>Biocon_Integrated_Annual_Report_2026.pdf</a:t>
            </a:r>
            <a:r>
              <a:rPr lang="en-IN" sz="800" i="1" dirty="0">
                <a:solidFill>
                  <a:schemeClr val="bg1">
                    <a:lumMod val="65000"/>
                  </a:schemeClr>
                </a:solidFill>
              </a:rPr>
              <a:t>, </a:t>
            </a:r>
            <a:r>
              <a:rPr lang="en-IN" sz="800" i="1" dirty="0">
                <a:solidFill>
                  <a:schemeClr val="bg1">
                    <a:lumMod val="65000"/>
                  </a:schemeClr>
                </a:solidFill>
                <a:hlinkClick r:id="rId4">
                  <a:extLst>
                    <a:ext uri="{A12FA001-AC4F-418D-AE19-62706E023703}">
                      <ahyp:hlinkClr xmlns:ahyp="http://schemas.microsoft.com/office/drawing/2018/hyperlinkcolor" val="tx"/>
                    </a:ext>
                  </a:extLst>
                </a:hlinkClick>
              </a:rPr>
              <a:t>Products - Generics, Biosimilars, Branded Formulations, Novel Biologics</a:t>
            </a:r>
            <a:endParaRPr lang="en-IN" sz="800" i="1" dirty="0">
              <a:solidFill>
                <a:schemeClr val="bg1">
                  <a:lumMod val="65000"/>
                </a:schemeClr>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185</TotalTime>
  <Words>1529</Words>
  <Application>Microsoft Office PowerPoint</Application>
  <PresentationFormat>Widescreen</PresentationFormat>
  <Paragraphs>189</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titusebastian@gmail.com</cp:lastModifiedBy>
  <cp:revision>10</cp:revision>
  <dcterms:created xsi:type="dcterms:W3CDTF">2026-09-22T15:08:29Z</dcterms:created>
  <dcterms:modified xsi:type="dcterms:W3CDTF">2026-09-25T14:12:09Z</dcterms:modified>
</cp:coreProperties>
</file>